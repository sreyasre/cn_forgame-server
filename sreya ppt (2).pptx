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8" r:id="rId3"/>
    <p:sldId id="279" r:id="rId4"/>
    <p:sldId id="260" r:id="rId5"/>
    <p:sldId id="280" r:id="rId6"/>
    <p:sldId id="281" r:id="rId7"/>
    <p:sldId id="261" r:id="rId8"/>
    <p:sldId id="262" r:id="rId9"/>
    <p:sldId id="270" r:id="rId10"/>
    <p:sldId id="278" r:id="rId11"/>
    <p:sldId id="273" r:id="rId12"/>
    <p:sldId id="282" r:id="rId13"/>
    <p:sldId id="283" r:id="rId14"/>
    <p:sldId id="277" r:id="rId15"/>
    <p:sldId id="284" r:id="rId16"/>
    <p:sldId id="267"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6" d="100"/>
          <a:sy n="96" d="100"/>
        </p:scale>
        <p:origin x="1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9B084D-F6B7-4652-92FB-0DA7EBF26D84}" type="datetimeFigureOut">
              <a:rPr lang="en-IN" smtClean="0"/>
              <a:t>24-12-2025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EA9441-0C73-4158-AC6A-A16AC57E5BFF}" type="slidenum">
              <a:rPr lang="en-IN" smtClean="0"/>
              <a:t>‹#›</a:t>
            </a:fld>
            <a:endParaRPr lang="en-IN"/>
          </a:p>
        </p:txBody>
      </p:sp>
    </p:spTree>
    <p:extLst>
      <p:ext uri="{BB962C8B-B14F-4D97-AF65-F5344CB8AC3E}">
        <p14:creationId xmlns:p14="http://schemas.microsoft.com/office/powerpoint/2010/main" val="3068666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8131FB-693A-454D-ABE7-5744BB986115}" type="slidenum">
              <a:rPr lang="en-IN" smtClean="0"/>
              <a:t>5</a:t>
            </a:fld>
            <a:endParaRPr lang="en-IN"/>
          </a:p>
        </p:txBody>
      </p:sp>
    </p:spTree>
    <p:extLst>
      <p:ext uri="{BB962C8B-B14F-4D97-AF65-F5344CB8AC3E}">
        <p14:creationId xmlns:p14="http://schemas.microsoft.com/office/powerpoint/2010/main" val="1417438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FFD56-1844-AC62-F019-E10F44F384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5C56133-F625-2954-4F81-D08DCC02F5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5F307A0-7EF0-FD5B-EACF-A01FEBEA8D4C}"/>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5" name="Footer Placeholder 4">
            <a:extLst>
              <a:ext uri="{FF2B5EF4-FFF2-40B4-BE49-F238E27FC236}">
                <a16:creationId xmlns:a16="http://schemas.microsoft.com/office/drawing/2014/main" id="{CD5EBB52-7B82-6A21-A801-652E56936C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4BC809-30EB-C179-BE04-D78EFA6B234A}"/>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2202260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231E9-62AA-3399-A541-ECA70AB5E3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CB8C71-5B15-15F3-D06B-D34901850B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7A98DB-9AFD-3C50-EACE-1710701A73E1}"/>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5" name="Footer Placeholder 4">
            <a:extLst>
              <a:ext uri="{FF2B5EF4-FFF2-40B4-BE49-F238E27FC236}">
                <a16:creationId xmlns:a16="http://schemas.microsoft.com/office/drawing/2014/main" id="{4272B628-98EE-4E2B-9B97-62B9FF245B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D4C88A-7191-C109-FD52-98FAF15419C4}"/>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462261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A6A5E-CCF0-2509-9D18-2DC3A0D62D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05058DC-AEF7-3A03-1069-117F208823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5766AD-4114-5F02-5E96-E01B30BCECC6}"/>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5" name="Footer Placeholder 4">
            <a:extLst>
              <a:ext uri="{FF2B5EF4-FFF2-40B4-BE49-F238E27FC236}">
                <a16:creationId xmlns:a16="http://schemas.microsoft.com/office/drawing/2014/main" id="{6D744A57-2A37-38D0-9EED-8EEE04BFE5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F96BD3-097E-8EBD-D307-26AD50C13F72}"/>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4174825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F9D59-2B0D-808B-5F67-2C608C6BA8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5DD311-D383-2F9C-9339-EBE52C0BE8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C5F5439-3B43-69AF-2767-229D55834D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7217B0C-5E0A-1EBC-FA6C-89C586D2D6C2}"/>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6" name="Footer Placeholder 5">
            <a:extLst>
              <a:ext uri="{FF2B5EF4-FFF2-40B4-BE49-F238E27FC236}">
                <a16:creationId xmlns:a16="http://schemas.microsoft.com/office/drawing/2014/main" id="{6C08B91B-5539-FEF9-4FEE-A183C71625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1CFAA7-16B9-24A1-AC50-492C9770BD7A}"/>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3674299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45CC2-63BE-384F-E84B-F69B15AC45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D7716C-A2D0-DF44-5C6A-190DB0FE79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E1ACC5-BAB5-340D-BE1D-DEB5103E54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7C1EAB-C380-C225-AF11-4BAED91A7D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F63A28-8FE1-2862-1AF2-DA0876E747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03166A9-80EB-2D99-F7BC-E2655FEB29C6}"/>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8" name="Footer Placeholder 7">
            <a:extLst>
              <a:ext uri="{FF2B5EF4-FFF2-40B4-BE49-F238E27FC236}">
                <a16:creationId xmlns:a16="http://schemas.microsoft.com/office/drawing/2014/main" id="{6BAE7045-72A9-AF3B-0350-C259595DDF4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48A7389-D3A6-423C-6FAE-0387BA71DEB1}"/>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1543420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CB6EE-1DC1-5CEB-BCB9-8453C3AFB2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D19D1B-58F4-F767-18CB-F9626AFE637B}"/>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4" name="Footer Placeholder 3">
            <a:extLst>
              <a:ext uri="{FF2B5EF4-FFF2-40B4-BE49-F238E27FC236}">
                <a16:creationId xmlns:a16="http://schemas.microsoft.com/office/drawing/2014/main" id="{4F83490E-ECB3-1BB2-81D3-115BE1EDAF5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860E7F-BBA3-4AD5-D8D6-BB0401311416}"/>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3567737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31B3E0-ADA0-CBC4-208F-834C258AE184}"/>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3" name="Footer Placeholder 2">
            <a:extLst>
              <a:ext uri="{FF2B5EF4-FFF2-40B4-BE49-F238E27FC236}">
                <a16:creationId xmlns:a16="http://schemas.microsoft.com/office/drawing/2014/main" id="{EC6282B8-F76B-D43F-8AE0-81D38BB7B34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0D205B-C6C9-4D34-C36A-D8A209439C58}"/>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683409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4EF97-F4AC-BD64-05F3-B531968D13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70EFF72-5C28-583E-6530-85338DFAC0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B5638D-D048-B4AA-19D8-39071B38DC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B22AAD-51FB-E98E-EE89-C4BA9D8155EB}"/>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6" name="Footer Placeholder 5">
            <a:extLst>
              <a:ext uri="{FF2B5EF4-FFF2-40B4-BE49-F238E27FC236}">
                <a16:creationId xmlns:a16="http://schemas.microsoft.com/office/drawing/2014/main" id="{B6F91C54-8449-8D95-86A2-7B69B68CCC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DAE50C-33EB-37D4-8E2F-07679D7B0AB5}"/>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1791954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59455-6DCF-9BA3-63A2-5887A8A50B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22A210B-77E5-6070-1984-D98E50669D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922F59-5DB7-A4C4-493A-FA4AB0B222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456372-812E-6B4B-A63F-A7A48586E8B5}"/>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6" name="Footer Placeholder 5">
            <a:extLst>
              <a:ext uri="{FF2B5EF4-FFF2-40B4-BE49-F238E27FC236}">
                <a16:creationId xmlns:a16="http://schemas.microsoft.com/office/drawing/2014/main" id="{34BF76AF-46EA-7B81-E950-81961CC81C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E0DD48-2D62-37F2-C9E4-597ABA3E46FB}"/>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1893876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9DAAC-7D2F-0353-DB2E-98BCD58058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BC1E27-C46E-4C12-FB43-57B5B2521F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C2195B-CA46-9735-A889-357867A2C4CF}"/>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5" name="Footer Placeholder 4">
            <a:extLst>
              <a:ext uri="{FF2B5EF4-FFF2-40B4-BE49-F238E27FC236}">
                <a16:creationId xmlns:a16="http://schemas.microsoft.com/office/drawing/2014/main" id="{D25C0F32-9DF0-31C6-333E-86DAC0D546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48C5ED-3E9C-A085-4B3E-23B6A45D608A}"/>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4238919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F94145-28FD-CC73-AC9E-1E66EFF947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56AFB4-AD8C-CC48-D630-025F72CBA1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0760C8-1281-22CE-A46E-8CBEFB1DDB9C}"/>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5" name="Footer Placeholder 4">
            <a:extLst>
              <a:ext uri="{FF2B5EF4-FFF2-40B4-BE49-F238E27FC236}">
                <a16:creationId xmlns:a16="http://schemas.microsoft.com/office/drawing/2014/main" id="{DA3EA1B6-14BA-53F3-B92E-4024477587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5FFE4D-EFAA-5BB1-BD0F-D9D50FECDE77}"/>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117734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6965F5-78B8-3054-3309-46DEFB8377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7B1F99-2262-4CE4-B3B2-2A44FE9537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D05A13-ECE3-1ABB-67F7-618B77082E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4E5057-1ABF-4290-8D83-404524AAD55A}" type="datetimeFigureOut">
              <a:rPr lang="en-IN" smtClean="0"/>
              <a:t>24-12-2025</a:t>
            </a:fld>
            <a:endParaRPr lang="en-IN"/>
          </a:p>
        </p:txBody>
      </p:sp>
      <p:sp>
        <p:nvSpPr>
          <p:cNvPr id="5" name="Footer Placeholder 4">
            <a:extLst>
              <a:ext uri="{FF2B5EF4-FFF2-40B4-BE49-F238E27FC236}">
                <a16:creationId xmlns:a16="http://schemas.microsoft.com/office/drawing/2014/main" id="{40C73503-C834-2702-5092-9CC0A2834F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70224B3-F30C-F0EF-A16A-E8AE6FA653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134465-E517-434B-8F8C-E7BCD89CDCB4}" type="slidenum">
              <a:rPr lang="en-IN" smtClean="0"/>
              <a:t>‹#›</a:t>
            </a:fld>
            <a:endParaRPr lang="en-IN"/>
          </a:p>
        </p:txBody>
      </p:sp>
    </p:spTree>
    <p:extLst>
      <p:ext uri="{BB962C8B-B14F-4D97-AF65-F5344CB8AC3E}">
        <p14:creationId xmlns:p14="http://schemas.microsoft.com/office/powerpoint/2010/main" val="778870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4.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84;p1" descr="SSE-Computer Science and Engineering">
            <a:extLst>
              <a:ext uri="{FF2B5EF4-FFF2-40B4-BE49-F238E27FC236}">
                <a16:creationId xmlns:a16="http://schemas.microsoft.com/office/drawing/2014/main" id="{13F162E7-B794-3D47-2329-FF29578EA4EF}"/>
              </a:ext>
            </a:extLst>
          </p:cNvPr>
          <p:cNvPicPr preferRelativeResize="0"/>
          <p:nvPr/>
        </p:nvPicPr>
        <p:blipFill rotWithShape="1">
          <a:blip r:embed="rId2">
            <a:alphaModFix/>
          </a:blip>
          <a:srcRect/>
          <a:stretch/>
        </p:blipFill>
        <p:spPr>
          <a:xfrm>
            <a:off x="1524000" y="245657"/>
            <a:ext cx="9144000" cy="905870"/>
          </a:xfrm>
          <a:prstGeom prst="rect">
            <a:avLst/>
          </a:prstGeom>
          <a:noFill/>
          <a:ln>
            <a:noFill/>
          </a:ln>
        </p:spPr>
      </p:pic>
      <p:sp>
        <p:nvSpPr>
          <p:cNvPr id="6" name="TextBox 5">
            <a:extLst>
              <a:ext uri="{FF2B5EF4-FFF2-40B4-BE49-F238E27FC236}">
                <a16:creationId xmlns:a16="http://schemas.microsoft.com/office/drawing/2014/main" id="{2F1B57F7-92CF-D883-69D1-3095D30799F8}"/>
              </a:ext>
            </a:extLst>
          </p:cNvPr>
          <p:cNvSpPr txBox="1"/>
          <p:nvPr/>
        </p:nvSpPr>
        <p:spPr>
          <a:xfrm>
            <a:off x="166979" y="1855720"/>
            <a:ext cx="11410120" cy="830997"/>
          </a:xfrm>
          <a:prstGeom prst="rect">
            <a:avLst/>
          </a:prstGeom>
          <a:noFill/>
        </p:spPr>
        <p:txBody>
          <a:bodyPr wrap="square" rtlCol="0">
            <a:spAutoFit/>
          </a:bodyPr>
          <a:lstStyle/>
          <a:p>
            <a:pPr algn="ctr"/>
            <a:r>
              <a:rPr lang="en-US" sz="2400" b="1" dirty="0">
                <a:solidFill>
                  <a:schemeClr val="accent2">
                    <a:lumMod val="50000"/>
                  </a:schemeClr>
                </a:solidFill>
                <a:latin typeface="Times New Roman" panose="02020603050405020304" pitchFamily="18" charset="0"/>
                <a:cs typeface="Times New Roman" panose="02020603050405020304" pitchFamily="18" charset="0"/>
              </a:rPr>
              <a:t>SECURE DATA COMMUNICATION IN WIRELESS LANs USING TRANSPORT LAYER SECURITY (TLS)</a:t>
            </a:r>
            <a:endParaRPr lang="en-IN" sz="24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6874141-80EB-925C-DE55-34F24A23B703}"/>
              </a:ext>
            </a:extLst>
          </p:cNvPr>
          <p:cNvSpPr txBox="1"/>
          <p:nvPr/>
        </p:nvSpPr>
        <p:spPr>
          <a:xfrm>
            <a:off x="1001864" y="3786809"/>
            <a:ext cx="1057523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CSA0764 – COMPUTER  NETWORKS FOR A GAME SERVER</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8479FBA-BE88-A4BE-49A6-708BD81A07F2}"/>
              </a:ext>
            </a:extLst>
          </p:cNvPr>
          <p:cNvSpPr txBox="1"/>
          <p:nvPr/>
        </p:nvSpPr>
        <p:spPr>
          <a:xfrm>
            <a:off x="807243" y="5117911"/>
            <a:ext cx="3551485" cy="923330"/>
          </a:xfrm>
          <a:prstGeom prst="rect">
            <a:avLst/>
          </a:prstGeom>
          <a:noFill/>
        </p:spPr>
        <p:txBody>
          <a:bodyPr wrap="none" rtlCol="0">
            <a:spAutoFit/>
          </a:bodyPr>
          <a:lstStyle/>
          <a:p>
            <a:r>
              <a:rPr lang="en-US" b="1" dirty="0">
                <a:solidFill>
                  <a:schemeClr val="tx2">
                    <a:lumMod val="90000"/>
                    <a:lumOff val="10000"/>
                  </a:schemeClr>
                </a:solidFill>
                <a:latin typeface="Times New Roman" panose="02020603050405020304" pitchFamily="18" charset="0"/>
                <a:cs typeface="Times New Roman" panose="02020603050405020304" pitchFamily="18" charset="0"/>
              </a:rPr>
              <a:t>UNDER THE SUPERVISION OF</a:t>
            </a:r>
            <a:endParaRPr lang="en-US" dirty="0">
              <a:solidFill>
                <a:schemeClr val="tx2">
                  <a:lumMod val="90000"/>
                  <a:lumOff val="10000"/>
                </a:schemeClr>
              </a:solidFill>
            </a:endParaRPr>
          </a:p>
          <a:p>
            <a:r>
              <a:rPr lang="en-US" b="1" dirty="0">
                <a:solidFill>
                  <a:srgbClr val="C00000"/>
                </a:solidFill>
                <a:latin typeface="Times New Roman" panose="02020603050405020304" pitchFamily="18" charset="0"/>
                <a:cs typeface="Times New Roman" panose="02020603050405020304" pitchFamily="18" charset="0"/>
              </a:rPr>
              <a:t>DR.K.SENTHIL</a:t>
            </a:r>
          </a:p>
          <a:p>
            <a:r>
              <a:rPr lang="en-US" b="1" dirty="0">
                <a:solidFill>
                  <a:srgbClr val="C00000"/>
                </a:solidFill>
                <a:latin typeface="Times New Roman" panose="02020603050405020304" pitchFamily="18" charset="0"/>
                <a:cs typeface="Times New Roman" panose="02020603050405020304" pitchFamily="18" charset="0"/>
              </a:rPr>
              <a:t>DR.P.RAJARAM</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DD1879A-C94A-F758-98BC-73FE48CB890B}"/>
              </a:ext>
            </a:extLst>
          </p:cNvPr>
          <p:cNvSpPr txBox="1"/>
          <p:nvPr/>
        </p:nvSpPr>
        <p:spPr>
          <a:xfrm>
            <a:off x="7833274" y="5009323"/>
            <a:ext cx="2822191" cy="1200329"/>
          </a:xfrm>
          <a:prstGeom prst="rect">
            <a:avLst/>
          </a:prstGeom>
          <a:noFill/>
        </p:spPr>
        <p:txBody>
          <a:bodyPr wrap="square" rtlCol="0">
            <a:spAutoFit/>
          </a:bodyPr>
          <a:lstStyle/>
          <a:p>
            <a:r>
              <a:rPr lang="en-US" b="1" dirty="0">
                <a:solidFill>
                  <a:schemeClr val="tx2">
                    <a:lumMod val="90000"/>
                    <a:lumOff val="10000"/>
                  </a:schemeClr>
                </a:solidFill>
                <a:latin typeface="Times New Roman" panose="02020603050405020304" pitchFamily="18" charset="0"/>
                <a:cs typeface="Times New Roman" panose="02020603050405020304" pitchFamily="18" charset="0"/>
              </a:rPr>
              <a:t>PRESENTED BY</a:t>
            </a:r>
          </a:p>
          <a:p>
            <a:r>
              <a:rPr lang="en-US" b="1" dirty="0">
                <a:solidFill>
                  <a:srgbClr val="C00000"/>
                </a:solidFill>
                <a:latin typeface="Times New Roman" panose="02020603050405020304" pitchFamily="18" charset="0"/>
                <a:cs typeface="Times New Roman" panose="02020603050405020304" pitchFamily="18" charset="0"/>
              </a:rPr>
              <a:t>G.SANJANA(192511020)</a:t>
            </a:r>
          </a:p>
          <a:p>
            <a:r>
              <a:rPr lang="en-US" b="1" dirty="0">
                <a:solidFill>
                  <a:srgbClr val="C00000"/>
                </a:solidFill>
                <a:latin typeface="Times New Roman" panose="02020603050405020304" pitchFamily="18" charset="0"/>
                <a:cs typeface="Times New Roman" panose="02020603050405020304" pitchFamily="18" charset="0"/>
              </a:rPr>
              <a:t>M.VAISHALI(192524440)</a:t>
            </a:r>
          </a:p>
          <a:p>
            <a:r>
              <a:rPr lang="en-US" b="1" dirty="0">
                <a:solidFill>
                  <a:srgbClr val="C00000"/>
                </a:solidFill>
                <a:latin typeface="Times New Roman" panose="02020603050405020304" pitchFamily="18" charset="0"/>
                <a:cs typeface="Times New Roman" panose="02020603050405020304" pitchFamily="18" charset="0"/>
              </a:rPr>
              <a:t>B.SREYA(192521442)</a:t>
            </a:r>
            <a:endParaRPr lang="en-IN"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9051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84;p1" descr="SSE-Computer Science and Engineering">
            <a:extLst>
              <a:ext uri="{FF2B5EF4-FFF2-40B4-BE49-F238E27FC236}">
                <a16:creationId xmlns:a16="http://schemas.microsoft.com/office/drawing/2014/main" id="{FB88F456-CBB6-4C2A-C6CF-29774EE9E28F}"/>
              </a:ext>
            </a:extLst>
          </p:cNvPr>
          <p:cNvPicPr preferRelativeResize="0"/>
          <p:nvPr/>
        </p:nvPicPr>
        <p:blipFill rotWithShape="1">
          <a:blip r:embed="rId2">
            <a:alphaModFix/>
          </a:blip>
          <a:srcRect/>
          <a:stretch/>
        </p:blipFill>
        <p:spPr>
          <a:xfrm>
            <a:off x="1524000" y="218361"/>
            <a:ext cx="9144000" cy="905870"/>
          </a:xfrm>
          <a:prstGeom prst="rect">
            <a:avLst/>
          </a:prstGeom>
          <a:noFill/>
          <a:ln>
            <a:noFill/>
          </a:ln>
        </p:spPr>
      </p:pic>
      <p:sp>
        <p:nvSpPr>
          <p:cNvPr id="4" name="TextBox 3">
            <a:extLst>
              <a:ext uri="{FF2B5EF4-FFF2-40B4-BE49-F238E27FC236}">
                <a16:creationId xmlns:a16="http://schemas.microsoft.com/office/drawing/2014/main" id="{335DF346-AEF8-539E-A715-FCA4D4CCCA26}"/>
              </a:ext>
            </a:extLst>
          </p:cNvPr>
          <p:cNvSpPr txBox="1"/>
          <p:nvPr/>
        </p:nvSpPr>
        <p:spPr>
          <a:xfrm>
            <a:off x="830510" y="2812129"/>
            <a:ext cx="8361197" cy="3139321"/>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Wireless LANs (WLANs) have become an essential part of modern communication, enabling users to access the internet without the constraints of physical cables. Because WLAN signals are transmitted through the air, attackers can easily intercept the data </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Sensitive information like passwords, banking data, and personal messages must be protected from unauthorized access.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Secure communication, security protocols must be applied at different layers of the OSI model. One of the most powerful and widely used protocols is Transport Layer Security (TLS).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TLS provides authentication, encryption, and data integrity</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154EFC3-87EA-D239-9390-9464E062FACF}"/>
              </a:ext>
            </a:extLst>
          </p:cNvPr>
          <p:cNvSpPr txBox="1"/>
          <p:nvPr/>
        </p:nvSpPr>
        <p:spPr>
          <a:xfrm>
            <a:off x="3792951" y="1624209"/>
            <a:ext cx="3057247"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INTRODUCTION</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3" name="Picture 2" descr="62+ Thousand Lock Graphic Interface Security Symbol Royalty-Free Images,  Stock Photos &amp; Pictures | Shutterstock">
            <a:extLst>
              <a:ext uri="{FF2B5EF4-FFF2-40B4-BE49-F238E27FC236}">
                <a16:creationId xmlns:a16="http://schemas.microsoft.com/office/drawing/2014/main" id="{07BA1C0D-B1D9-76FF-CB0E-1624B798CFC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48" b="8336"/>
          <a:stretch>
            <a:fillRect/>
          </a:stretch>
        </p:blipFill>
        <p:spPr bwMode="auto">
          <a:xfrm>
            <a:off x="9390490" y="2271218"/>
            <a:ext cx="2319280" cy="3067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9749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AB5F4-C11D-8010-00AA-BDF41FCF320B}"/>
              </a:ext>
            </a:extLst>
          </p:cNvPr>
          <p:cNvSpPr>
            <a:spLocks noGrp="1"/>
          </p:cNvSpPr>
          <p:nvPr>
            <p:ph type="title"/>
          </p:nvPr>
        </p:nvSpPr>
        <p:spPr>
          <a:xfrm>
            <a:off x="897622" y="1568767"/>
            <a:ext cx="10456178" cy="50307"/>
          </a:xfrm>
        </p:spPr>
        <p:txBody>
          <a:bodyPr>
            <a:normAutofit fontScale="90000"/>
          </a:bodyPr>
          <a:lstStyle/>
          <a:p>
            <a:pPr algn="ctr"/>
            <a:br>
              <a:rPr lang="en-US" sz="3100" b="1" dirty="0">
                <a:solidFill>
                  <a:srgbClr val="FF0000"/>
                </a:solidFill>
                <a:latin typeface="Times New Roman" panose="02020603050405020304" pitchFamily="18" charset="0"/>
                <a:cs typeface="Times New Roman" panose="02020603050405020304" pitchFamily="18" charset="0"/>
              </a:rPr>
            </a:br>
            <a:r>
              <a:rPr lang="en-US" sz="3100" b="1" dirty="0">
                <a:solidFill>
                  <a:srgbClr val="FF0000"/>
                </a:solidFill>
                <a:latin typeface="Times New Roman" panose="02020603050405020304" pitchFamily="18" charset="0"/>
                <a:cs typeface="Times New Roman" panose="02020603050405020304" pitchFamily="18" charset="0"/>
              </a:rPr>
              <a:t>OBJECTIVES</a:t>
            </a:r>
            <a:br>
              <a:rPr lang="en-IN" b="1" dirty="0">
                <a:solidFill>
                  <a:srgbClr val="FF0000"/>
                </a:solidFill>
                <a:latin typeface="Times New Roman" panose="02020603050405020304" pitchFamily="18" charset="0"/>
                <a:cs typeface="Times New Roman" panose="02020603050405020304" pitchFamily="18" charset="0"/>
              </a:rPr>
            </a:br>
            <a:br>
              <a:rPr lang="en-IN" b="0" dirty="0">
                <a:effectLst/>
              </a:rPr>
            </a:br>
            <a:br>
              <a:rPr lang="en-IN" dirty="0"/>
            </a:br>
            <a:endParaRPr lang="en-IN" dirty="0"/>
          </a:p>
        </p:txBody>
      </p:sp>
      <p:sp>
        <p:nvSpPr>
          <p:cNvPr id="6" name="Rectangle 5">
            <a:extLst>
              <a:ext uri="{FF2B5EF4-FFF2-40B4-BE49-F238E27FC236}">
                <a16:creationId xmlns:a16="http://schemas.microsoft.com/office/drawing/2014/main" id="{4F22C9AB-6263-ADB1-9695-6B2FA62F545E}"/>
              </a:ext>
            </a:extLst>
          </p:cNvPr>
          <p:cNvSpPr/>
          <p:nvPr/>
        </p:nvSpPr>
        <p:spPr>
          <a:xfrm>
            <a:off x="110218" y="1486921"/>
            <a:ext cx="3841982" cy="400730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nSpc>
                <a:spcPct val="150000"/>
              </a:lnSpc>
            </a:pPr>
            <a:r>
              <a:rPr lang="en-US" b="1" dirty="0"/>
              <a:t>                     </a:t>
            </a:r>
            <a:r>
              <a:rPr lang="en-US" b="1" dirty="0">
                <a:latin typeface="Times New Roman" panose="02020603050405020304" pitchFamily="18" charset="0"/>
                <a:cs typeface="Times New Roman" panose="02020603050405020304" pitchFamily="18" charset="0"/>
              </a:rPr>
              <a:t>Clear Goals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 a secure wireless LAN communication system using Transport Layer Security (TLS)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 TLS to encrypt data and authenticate users and servers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 secure, reliable, and efficient data transmission over Wi-Fi networks</a:t>
            </a:r>
          </a:p>
          <a:p>
            <a:pPr algn="ctr"/>
            <a:endParaRPr lang="en-IN" dirty="0"/>
          </a:p>
        </p:txBody>
      </p:sp>
      <p:sp>
        <p:nvSpPr>
          <p:cNvPr id="7" name="Rectangle 6">
            <a:extLst>
              <a:ext uri="{FF2B5EF4-FFF2-40B4-BE49-F238E27FC236}">
                <a16:creationId xmlns:a16="http://schemas.microsoft.com/office/drawing/2014/main" id="{9AAC60BA-136B-C5D3-A708-4E2F02C94B60}"/>
              </a:ext>
            </a:extLst>
          </p:cNvPr>
          <p:cNvSpPr/>
          <p:nvPr/>
        </p:nvSpPr>
        <p:spPr>
          <a:xfrm>
            <a:off x="4132155" y="1486920"/>
            <a:ext cx="3884836" cy="400730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nSpc>
                <a:spcPct val="150000"/>
              </a:lnSpc>
            </a:pPr>
            <a:r>
              <a:rPr lang="en-US" b="1" dirty="0">
                <a:latin typeface="Times New Roman" panose="02020603050405020304" pitchFamily="18" charset="0"/>
                <a:cs typeface="Times New Roman" panose="02020603050405020304" pitchFamily="18" charset="0"/>
              </a:rPr>
              <a:t>      </a:t>
            </a:r>
          </a:p>
          <a:p>
            <a:pPr>
              <a:lnSpc>
                <a:spcPct val="150000"/>
              </a:lnSpc>
            </a:pPr>
            <a:r>
              <a:rPr lang="en-US" b="1" dirty="0">
                <a:latin typeface="Times New Roman" panose="02020603050405020304" pitchFamily="18" charset="0"/>
                <a:cs typeface="Times New Roman" panose="02020603050405020304" pitchFamily="18" charset="0"/>
              </a:rPr>
              <a:t>    Address the Problem Statement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Protect wireless data from eavesdropping and unauthorized access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Prevent data tampering and identity spoofing in WLAN communication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 security without significantly affecting network performance</a:t>
            </a:r>
          </a:p>
          <a:p>
            <a:pPr algn="ctr"/>
            <a:endParaRPr lang="en-IN" dirty="0"/>
          </a:p>
        </p:txBody>
      </p:sp>
      <p:sp>
        <p:nvSpPr>
          <p:cNvPr id="9" name="Rectangle 8">
            <a:extLst>
              <a:ext uri="{FF2B5EF4-FFF2-40B4-BE49-F238E27FC236}">
                <a16:creationId xmlns:a16="http://schemas.microsoft.com/office/drawing/2014/main" id="{38D1BC7F-84B9-65E8-F679-54344B56EDDD}"/>
              </a:ext>
            </a:extLst>
          </p:cNvPr>
          <p:cNvSpPr/>
          <p:nvPr/>
        </p:nvSpPr>
        <p:spPr>
          <a:xfrm>
            <a:off x="8196946" y="1486921"/>
            <a:ext cx="3884836" cy="400730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nSpc>
                <a:spcPct val="150000"/>
              </a:lnSpc>
            </a:pPr>
            <a:r>
              <a:rPr lang="en-US" b="1" dirty="0">
                <a:latin typeface="Times New Roman" panose="02020603050405020304" pitchFamily="18" charset="0"/>
                <a:cs typeface="Times New Roman" panose="02020603050405020304" pitchFamily="18" charset="0"/>
              </a:rPr>
              <a:t>             Expected Outcomes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Secure wireless communication with encrypted data transmission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Verified authentication using digital certificates and TLS handshake</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Improved data integrity and confidentiality with minimal performance overhead</a:t>
            </a:r>
          </a:p>
          <a:p>
            <a:pPr algn="ctr"/>
            <a:endParaRPr lang="en-IN" dirty="0"/>
          </a:p>
        </p:txBody>
      </p:sp>
      <p:pic>
        <p:nvPicPr>
          <p:cNvPr id="3" name="Google Shape;84;p1" descr="SSE-Computer Science and Engineering">
            <a:extLst>
              <a:ext uri="{FF2B5EF4-FFF2-40B4-BE49-F238E27FC236}">
                <a16:creationId xmlns:a16="http://schemas.microsoft.com/office/drawing/2014/main" id="{C5C0964C-708D-896F-212A-CA1859544E95}"/>
              </a:ext>
            </a:extLst>
          </p:cNvPr>
          <p:cNvPicPr preferRelativeResize="0"/>
          <p:nvPr/>
        </p:nvPicPr>
        <p:blipFill rotWithShape="1">
          <a:blip r:embed="rId2">
            <a:alphaModFix/>
          </a:blip>
          <a:srcRect/>
          <a:stretch/>
        </p:blipFill>
        <p:spPr>
          <a:xfrm>
            <a:off x="1524000" y="1"/>
            <a:ext cx="9144000" cy="440841"/>
          </a:xfrm>
          <a:prstGeom prst="rect">
            <a:avLst/>
          </a:prstGeom>
          <a:noFill/>
          <a:ln>
            <a:noFill/>
          </a:ln>
        </p:spPr>
      </p:pic>
    </p:spTree>
    <p:extLst>
      <p:ext uri="{BB962C8B-B14F-4D97-AF65-F5344CB8AC3E}">
        <p14:creationId xmlns:p14="http://schemas.microsoft.com/office/powerpoint/2010/main" val="4254817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84;p1" descr="SSE-Computer Science and Engineering">
            <a:extLst>
              <a:ext uri="{FF2B5EF4-FFF2-40B4-BE49-F238E27FC236}">
                <a16:creationId xmlns:a16="http://schemas.microsoft.com/office/drawing/2014/main" id="{F45605F5-41BF-13C4-D257-0CDBAC0FC445}"/>
              </a:ext>
            </a:extLst>
          </p:cNvPr>
          <p:cNvPicPr preferRelativeResize="0"/>
          <p:nvPr/>
        </p:nvPicPr>
        <p:blipFill rotWithShape="1">
          <a:blip r:embed="rId2">
            <a:alphaModFix/>
          </a:blip>
          <a:srcRect/>
          <a:stretch/>
        </p:blipFill>
        <p:spPr>
          <a:xfrm>
            <a:off x="1524000" y="218361"/>
            <a:ext cx="9144000" cy="905870"/>
          </a:xfrm>
          <a:prstGeom prst="rect">
            <a:avLst/>
          </a:prstGeom>
          <a:noFill/>
          <a:ln>
            <a:noFill/>
          </a:ln>
        </p:spPr>
      </p:pic>
      <p:sp>
        <p:nvSpPr>
          <p:cNvPr id="3" name="TextBox 2">
            <a:extLst>
              <a:ext uri="{FF2B5EF4-FFF2-40B4-BE49-F238E27FC236}">
                <a16:creationId xmlns:a16="http://schemas.microsoft.com/office/drawing/2014/main" id="{9160E817-3E51-73E2-C62D-39D0C3165E8D}"/>
              </a:ext>
            </a:extLst>
          </p:cNvPr>
          <p:cNvSpPr txBox="1"/>
          <p:nvPr/>
        </p:nvSpPr>
        <p:spPr>
          <a:xfrm>
            <a:off x="1862356" y="1186844"/>
            <a:ext cx="7670809" cy="523220"/>
          </a:xfrm>
          <a:prstGeom prst="rect">
            <a:avLst/>
          </a:prstGeom>
          <a:noFill/>
        </p:spPr>
        <p:txBody>
          <a:bodyPr wrap="squar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LITERATURE REVIEW / BACKGROUND</a:t>
            </a:r>
            <a:endParaRPr lang="en-IN"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5E56499E-63F6-DBAC-DB3B-6CB09B0583CB}"/>
              </a:ext>
            </a:extLst>
          </p:cNvPr>
          <p:cNvGraphicFramePr>
            <a:graphicFrameLocks noGrp="1"/>
          </p:cNvGraphicFramePr>
          <p:nvPr>
            <p:extLst>
              <p:ext uri="{D42A27DB-BD31-4B8C-83A1-F6EECF244321}">
                <p14:modId xmlns:p14="http://schemas.microsoft.com/office/powerpoint/2010/main" val="1748624424"/>
              </p:ext>
            </p:extLst>
          </p:nvPr>
        </p:nvGraphicFramePr>
        <p:xfrm>
          <a:off x="268448" y="1929468"/>
          <a:ext cx="11122680" cy="4771946"/>
        </p:xfrm>
        <a:graphic>
          <a:graphicData uri="http://schemas.openxmlformats.org/drawingml/2006/table">
            <a:tbl>
              <a:tblPr/>
              <a:tblGrid>
                <a:gridCol w="2224536">
                  <a:extLst>
                    <a:ext uri="{9D8B030D-6E8A-4147-A177-3AD203B41FA5}">
                      <a16:colId xmlns:a16="http://schemas.microsoft.com/office/drawing/2014/main" val="874204538"/>
                    </a:ext>
                  </a:extLst>
                </a:gridCol>
                <a:gridCol w="2224536">
                  <a:extLst>
                    <a:ext uri="{9D8B030D-6E8A-4147-A177-3AD203B41FA5}">
                      <a16:colId xmlns:a16="http://schemas.microsoft.com/office/drawing/2014/main" val="114219839"/>
                    </a:ext>
                  </a:extLst>
                </a:gridCol>
                <a:gridCol w="2224536">
                  <a:extLst>
                    <a:ext uri="{9D8B030D-6E8A-4147-A177-3AD203B41FA5}">
                      <a16:colId xmlns:a16="http://schemas.microsoft.com/office/drawing/2014/main" val="3296119423"/>
                    </a:ext>
                  </a:extLst>
                </a:gridCol>
                <a:gridCol w="2224536">
                  <a:extLst>
                    <a:ext uri="{9D8B030D-6E8A-4147-A177-3AD203B41FA5}">
                      <a16:colId xmlns:a16="http://schemas.microsoft.com/office/drawing/2014/main" val="629993161"/>
                    </a:ext>
                  </a:extLst>
                </a:gridCol>
                <a:gridCol w="2224536">
                  <a:extLst>
                    <a:ext uri="{9D8B030D-6E8A-4147-A177-3AD203B41FA5}">
                      <a16:colId xmlns:a16="http://schemas.microsoft.com/office/drawing/2014/main" val="3482929921"/>
                    </a:ext>
                  </a:extLst>
                </a:gridCol>
              </a:tblGrid>
              <a:tr h="296220">
                <a:tc>
                  <a:txBody>
                    <a:bodyPr/>
                    <a:lstStyle/>
                    <a:p>
                      <a:pPr>
                        <a:buNone/>
                      </a:pPr>
                      <a:r>
                        <a:rPr lang="en-IN" sz="1400" b="1">
                          <a:latin typeface="Times New Roman" panose="02020603050405020304" pitchFamily="18" charset="0"/>
                          <a:cs typeface="Times New Roman" panose="02020603050405020304" pitchFamily="18" charset="0"/>
                        </a:rPr>
                        <a:t>Title / Area</a:t>
                      </a:r>
                      <a:endParaRPr lang="en-IN"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Authors</a:t>
                      </a:r>
                      <a:endParaRPr lang="en-IN"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Year</a:t>
                      </a:r>
                      <a:endParaRPr lang="en-IN"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Methodology Used</a:t>
                      </a:r>
                      <a:endParaRPr lang="en-IN"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Key Contributions</a:t>
                      </a:r>
                      <a:endParaRPr lang="en-IN"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6318386"/>
                  </a:ext>
                </a:extLst>
              </a:tr>
              <a:tr h="918283">
                <a:tc>
                  <a:txBody>
                    <a:bodyPr/>
                    <a:lstStyle/>
                    <a:p>
                      <a:pPr>
                        <a:buNone/>
                      </a:pPr>
                      <a:r>
                        <a:rPr lang="en-US" sz="1400">
                          <a:latin typeface="Times New Roman" panose="02020603050405020304" pitchFamily="18" charset="0"/>
                          <a:cs typeface="Times New Roman" panose="02020603050405020304" pitchFamily="18" charset="0"/>
                        </a:rPr>
                        <a:t>Optimizing TLS Performance in Wireless Networks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Zhang, L. &amp; Kumar,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Experimental analysis using TLS handshake optimization and performance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Reduced TLS handshake delay and improved secure communication efficiency in WLANs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3028361"/>
                  </a:ext>
                </a:extLst>
              </a:tr>
              <a:tr h="918283">
                <a:tc>
                  <a:txBody>
                    <a:bodyPr/>
                    <a:lstStyle/>
                    <a:p>
                      <a:pPr>
                        <a:buNone/>
                      </a:pPr>
                      <a:r>
                        <a:rPr lang="en-US" sz="1400">
                          <a:latin typeface="Times New Roman" panose="02020603050405020304" pitchFamily="18" charset="0"/>
                          <a:cs typeface="Times New Roman" panose="02020603050405020304" pitchFamily="18" charset="0"/>
                        </a:rPr>
                        <a:t>Secure Wi-Fi Communication Using TLS 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Hernandez, R., Gomez, A., et 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Simulation-based evaluation of TLS 1.3 over wireless networks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Achieved faster connection setup and stronger encryption for Wi-Fi communication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5595337"/>
                  </a:ext>
                </a:extLst>
              </a:tr>
              <a:tr h="1056558">
                <a:tc>
                  <a:txBody>
                    <a:bodyPr/>
                    <a:lstStyle/>
                    <a:p>
                      <a:pPr>
                        <a:buNone/>
                      </a:pPr>
                      <a:r>
                        <a:rPr lang="en-US" sz="1400">
                          <a:latin typeface="Times New Roman" panose="02020603050405020304" pitchFamily="18" charset="0"/>
                          <a:cs typeface="Times New Roman" panose="02020603050405020304" pitchFamily="18" charset="0"/>
                        </a:rPr>
                        <a:t>Lightweight TLS for IoT Devices over WLAN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Park, J. &amp; Lee, 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Design and implementation of lightweight TLS protocol with performance benchmarking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Enabled secure communication for low-power IoT devices with minimal overhead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4835138"/>
                  </a:ext>
                </a:extLst>
              </a:tr>
              <a:tr h="760414">
                <a:tc>
                  <a:txBody>
                    <a:bodyPr/>
                    <a:lstStyle/>
                    <a:p>
                      <a:pPr>
                        <a:buNone/>
                      </a:pPr>
                      <a:r>
                        <a:rPr lang="en-US" sz="1400">
                          <a:latin typeface="Times New Roman" panose="02020603050405020304" pitchFamily="18" charset="0"/>
                          <a:cs typeface="Times New Roman" panose="02020603050405020304" pitchFamily="18" charset="0"/>
                        </a:rPr>
                        <a:t>EAP-TLS Based Authentication in Wireless LANs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Singh, A. &amp; Patel, 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Certificate-based authentication testing using EAP-TLS framework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Improved user and device authentication security in WLAN environments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466428"/>
                  </a:ext>
                </a:extLst>
              </a:tr>
              <a:tr h="760414">
                <a:tc>
                  <a:txBody>
                    <a:bodyPr/>
                    <a:lstStyle/>
                    <a:p>
                      <a:pPr>
                        <a:buNone/>
                      </a:pPr>
                      <a:r>
                        <a:rPr lang="en-US" sz="1400">
                          <a:latin typeface="Times New Roman" panose="02020603050405020304" pitchFamily="18" charset="0"/>
                          <a:cs typeface="Times New Roman" panose="02020603050405020304" pitchFamily="18" charset="0"/>
                        </a:rPr>
                        <a:t>Encrypted Traffic Protection in Wireless Networks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Miller, T. &amp; Brown, D.</a:t>
                      </a:r>
                      <a:endParaRPr lang="en-IN"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2025</a:t>
                      </a:r>
                      <a:endParaRPr lang="en-IN"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Traffic analysis of TLS-encrypted wireless data streams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Demonstrated enhanced privacy and confidentiality in wireless communication</a:t>
                      </a:r>
                      <a:endParaRPr 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077262"/>
                  </a:ext>
                </a:extLst>
              </a:tr>
            </a:tbl>
          </a:graphicData>
        </a:graphic>
      </p:graphicFrame>
    </p:spTree>
    <p:extLst>
      <p:ext uri="{BB962C8B-B14F-4D97-AF65-F5344CB8AC3E}">
        <p14:creationId xmlns:p14="http://schemas.microsoft.com/office/powerpoint/2010/main" val="3794883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3D83DC7-4758-05DA-8767-61CC0708822E}"/>
              </a:ext>
            </a:extLst>
          </p:cNvPr>
          <p:cNvSpPr/>
          <p:nvPr/>
        </p:nvSpPr>
        <p:spPr>
          <a:xfrm>
            <a:off x="321130" y="1719743"/>
            <a:ext cx="5140103" cy="4848837"/>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US" b="1" dirty="0"/>
              <a:t>                         </a:t>
            </a:r>
            <a:r>
              <a:rPr lang="en-US" b="1" dirty="0">
                <a:latin typeface="Times New Roman" panose="02020603050405020304" pitchFamily="18" charset="0"/>
                <a:cs typeface="Times New Roman" panose="02020603050405020304" pitchFamily="18" charset="0"/>
              </a:rPr>
              <a:t>Theoretical Foundation</a:t>
            </a:r>
          </a:p>
          <a:p>
            <a:pPr algn="just">
              <a:lnSpc>
                <a:spcPct val="150000"/>
              </a:lnSpc>
            </a:pPr>
            <a:r>
              <a:rPr lang="en-US" b="1" dirty="0">
                <a:latin typeface="Times New Roman" panose="02020603050405020304" pitchFamily="18" charset="0"/>
                <a:cs typeface="Times New Roman" panose="02020603050405020304" pitchFamily="18" charset="0"/>
              </a:rPr>
              <a:t>Network Security Theory</a:t>
            </a:r>
            <a:r>
              <a:rPr lang="en-US" dirty="0">
                <a:latin typeface="Times New Roman" panose="02020603050405020304" pitchFamily="18" charset="0"/>
                <a:cs typeface="Times New Roman" panose="02020603050405020304" pitchFamily="18" charset="0"/>
              </a:rPr>
              <a:t> – explains how confidentiality, authentication, and integrity protect data during communication.</a:t>
            </a:r>
          </a:p>
          <a:p>
            <a:pPr algn="just">
              <a:lnSpc>
                <a:spcPct val="150000"/>
              </a:lnSpc>
            </a:pPr>
            <a:r>
              <a:rPr lang="en-US" b="1" dirty="0">
                <a:latin typeface="Times New Roman" panose="02020603050405020304" pitchFamily="18" charset="0"/>
                <a:cs typeface="Times New Roman" panose="02020603050405020304" pitchFamily="18" charset="0"/>
              </a:rPr>
              <a:t>Cryptography Principles</a:t>
            </a:r>
            <a:r>
              <a:rPr lang="en-US" dirty="0">
                <a:latin typeface="Times New Roman" panose="02020603050405020304" pitchFamily="18" charset="0"/>
                <a:cs typeface="Times New Roman" panose="02020603050405020304" pitchFamily="18" charset="0"/>
              </a:rPr>
              <a:t> – explains symmetric encryption, asymmetric encryption, and hashing used in TLS.</a:t>
            </a:r>
          </a:p>
          <a:p>
            <a:pPr algn="just">
              <a:lnSpc>
                <a:spcPct val="150000"/>
              </a:lnSpc>
            </a:pPr>
            <a:r>
              <a:rPr lang="en-US" b="1" dirty="0">
                <a:latin typeface="Times New Roman" panose="02020603050405020304" pitchFamily="18" charset="0"/>
                <a:cs typeface="Times New Roman" panose="02020603050405020304" pitchFamily="18" charset="0"/>
              </a:rPr>
              <a:t>TLS Protocol Theory</a:t>
            </a:r>
            <a:r>
              <a:rPr lang="en-US" dirty="0">
                <a:latin typeface="Times New Roman" panose="02020603050405020304" pitchFamily="18" charset="0"/>
                <a:cs typeface="Times New Roman" panose="02020603050405020304" pitchFamily="18" charset="0"/>
              </a:rPr>
              <a:t> – explains the TLS handshake, key exchange, and secure session establishment.</a:t>
            </a:r>
          </a:p>
          <a:p>
            <a:pPr algn="just">
              <a:lnSpc>
                <a:spcPct val="150000"/>
              </a:lnSpc>
            </a:pPr>
            <a:r>
              <a:rPr lang="en-US" b="1" dirty="0">
                <a:latin typeface="Times New Roman" panose="02020603050405020304" pitchFamily="18" charset="0"/>
                <a:cs typeface="Times New Roman" panose="02020603050405020304" pitchFamily="18" charset="0"/>
              </a:rPr>
              <a:t>OSI Model Concept</a:t>
            </a:r>
            <a:r>
              <a:rPr lang="en-US" dirty="0">
                <a:latin typeface="Times New Roman" panose="02020603050405020304" pitchFamily="18" charset="0"/>
                <a:cs typeface="Times New Roman" panose="02020603050405020304" pitchFamily="18" charset="0"/>
              </a:rPr>
              <a:t> – explains how TLS operates between the Application and Transport layers to secure data transmission.</a:t>
            </a:r>
          </a:p>
        </p:txBody>
      </p:sp>
      <p:sp>
        <p:nvSpPr>
          <p:cNvPr id="4" name="Rectangle 3">
            <a:extLst>
              <a:ext uri="{FF2B5EF4-FFF2-40B4-BE49-F238E27FC236}">
                <a16:creationId xmlns:a16="http://schemas.microsoft.com/office/drawing/2014/main" id="{E13D5F1A-8132-F6E5-CB58-50DA29D428CC}"/>
              </a:ext>
            </a:extLst>
          </p:cNvPr>
          <p:cNvSpPr/>
          <p:nvPr/>
        </p:nvSpPr>
        <p:spPr>
          <a:xfrm>
            <a:off x="6400799" y="1904301"/>
            <a:ext cx="5310231" cy="4664279"/>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US" b="1" dirty="0"/>
              <a:t>                               </a:t>
            </a:r>
            <a:r>
              <a:rPr lang="en-US" b="1" dirty="0">
                <a:latin typeface="Times New Roman" panose="02020603050405020304" pitchFamily="18" charset="0"/>
                <a:cs typeface="Times New Roman" panose="02020603050405020304" pitchFamily="18" charset="0"/>
              </a:rPr>
              <a:t>Research Gap</a:t>
            </a:r>
          </a:p>
          <a:p>
            <a:pPr algn="just">
              <a:lnSpc>
                <a:spcPct val="150000"/>
              </a:lnSpc>
            </a:pPr>
            <a:r>
              <a:rPr lang="en-US" dirty="0">
                <a:latin typeface="Times New Roman" panose="02020603050405020304" pitchFamily="18" charset="0"/>
                <a:cs typeface="Times New Roman" panose="02020603050405020304" pitchFamily="18" charset="0"/>
              </a:rPr>
              <a:t>Most studies focus on wired networks or web applications, with limited emphasis on TLS implementation in wireless LAN environments.</a:t>
            </a:r>
          </a:p>
          <a:p>
            <a:pPr algn="just">
              <a:lnSpc>
                <a:spcPct val="150000"/>
              </a:lnSpc>
            </a:pPr>
            <a:r>
              <a:rPr lang="en-US" dirty="0">
                <a:latin typeface="Times New Roman" panose="02020603050405020304" pitchFamily="18" charset="0"/>
                <a:cs typeface="Times New Roman" panose="02020603050405020304" pitchFamily="18" charset="0"/>
              </a:rPr>
              <a:t>Limited practical work demonstrates end-to-end TLS deployment over Wi-Fi, including handshake, authentication, and performance evaluation.</a:t>
            </a:r>
          </a:p>
          <a:p>
            <a:pPr algn="just">
              <a:lnSpc>
                <a:spcPct val="150000"/>
              </a:lnSpc>
            </a:pPr>
            <a:r>
              <a:rPr lang="en-US" dirty="0">
                <a:latin typeface="Times New Roman" panose="02020603050405020304" pitchFamily="18" charset="0"/>
                <a:cs typeface="Times New Roman" panose="02020603050405020304" pitchFamily="18" charset="0"/>
              </a:rPr>
              <a:t>Our project fills this gap by implementing and analyzing TLS-based secure communication in WLANs with real-time testing and performance observation.</a:t>
            </a:r>
          </a:p>
        </p:txBody>
      </p:sp>
      <p:pic>
        <p:nvPicPr>
          <p:cNvPr id="2" name="Google Shape;84;p1" descr="SSE-Computer Science and Engineering">
            <a:extLst>
              <a:ext uri="{FF2B5EF4-FFF2-40B4-BE49-F238E27FC236}">
                <a16:creationId xmlns:a16="http://schemas.microsoft.com/office/drawing/2014/main" id="{A5B1BE4F-A507-367A-DEF0-53D11371B6AC}"/>
              </a:ext>
            </a:extLst>
          </p:cNvPr>
          <p:cNvPicPr preferRelativeResize="0"/>
          <p:nvPr/>
        </p:nvPicPr>
        <p:blipFill rotWithShape="1">
          <a:blip r:embed="rId3">
            <a:alphaModFix/>
          </a:blip>
          <a:srcRect/>
          <a:stretch/>
        </p:blipFill>
        <p:spPr>
          <a:xfrm>
            <a:off x="1524000" y="218361"/>
            <a:ext cx="9144000" cy="905870"/>
          </a:xfrm>
          <a:prstGeom prst="rect">
            <a:avLst/>
          </a:prstGeom>
          <a:noFill/>
          <a:ln>
            <a:noFill/>
          </a:ln>
        </p:spPr>
      </p:pic>
    </p:spTree>
    <p:extLst>
      <p:ext uri="{BB962C8B-B14F-4D97-AF65-F5344CB8AC3E}">
        <p14:creationId xmlns:p14="http://schemas.microsoft.com/office/powerpoint/2010/main" val="704154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F2082C0-CC37-9C75-9402-35CF7BEC4896}"/>
              </a:ext>
            </a:extLst>
          </p:cNvPr>
          <p:cNvSpPr/>
          <p:nvPr/>
        </p:nvSpPr>
        <p:spPr>
          <a:xfrm>
            <a:off x="8707771" y="1300293"/>
            <a:ext cx="3187817" cy="4969093"/>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AECA04B3-86BA-9888-9097-4BDAB61EFA6A}"/>
              </a:ext>
            </a:extLst>
          </p:cNvPr>
          <p:cNvSpPr/>
          <p:nvPr/>
        </p:nvSpPr>
        <p:spPr>
          <a:xfrm>
            <a:off x="4253218" y="1300295"/>
            <a:ext cx="4261608" cy="4969094"/>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102F39F0-E15B-8A95-C552-9455F2CC3B01}"/>
              </a:ext>
            </a:extLst>
          </p:cNvPr>
          <p:cNvSpPr/>
          <p:nvPr/>
        </p:nvSpPr>
        <p:spPr>
          <a:xfrm>
            <a:off x="218114" y="1300294"/>
            <a:ext cx="3842159" cy="4969092"/>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Google Shape;84;p1" descr="SSE-Computer Science and Engineering">
            <a:extLst>
              <a:ext uri="{FF2B5EF4-FFF2-40B4-BE49-F238E27FC236}">
                <a16:creationId xmlns:a16="http://schemas.microsoft.com/office/drawing/2014/main" id="{6477C40F-BCAB-688E-7B2F-FEC829962BC2}"/>
              </a:ext>
            </a:extLst>
          </p:cNvPr>
          <p:cNvPicPr preferRelativeResize="0"/>
          <p:nvPr/>
        </p:nvPicPr>
        <p:blipFill rotWithShape="1">
          <a:blip r:embed="rId2">
            <a:alphaModFix/>
          </a:blip>
          <a:srcRect/>
          <a:stretch/>
        </p:blipFill>
        <p:spPr>
          <a:xfrm>
            <a:off x="1524000" y="218361"/>
            <a:ext cx="9144000" cy="905870"/>
          </a:xfrm>
          <a:prstGeom prst="rect">
            <a:avLst/>
          </a:prstGeom>
          <a:noFill/>
          <a:ln>
            <a:noFill/>
          </a:ln>
        </p:spPr>
      </p:pic>
      <p:sp>
        <p:nvSpPr>
          <p:cNvPr id="11" name="TextBox 10">
            <a:extLst>
              <a:ext uri="{FF2B5EF4-FFF2-40B4-BE49-F238E27FC236}">
                <a16:creationId xmlns:a16="http://schemas.microsoft.com/office/drawing/2014/main" id="{81A65ABB-291F-42C6-FFE1-F62F88D46D1E}"/>
              </a:ext>
            </a:extLst>
          </p:cNvPr>
          <p:cNvSpPr txBox="1"/>
          <p:nvPr/>
        </p:nvSpPr>
        <p:spPr>
          <a:xfrm>
            <a:off x="394285" y="1468074"/>
            <a:ext cx="3498208" cy="4247317"/>
          </a:xfrm>
          <a:prstGeom prst="rect">
            <a:avLst/>
          </a:prstGeom>
          <a:noFill/>
        </p:spPr>
        <p:txBody>
          <a:bodyPr wrap="square">
            <a:spAutoFit/>
          </a:bodyPr>
          <a:lstStyle/>
          <a:p>
            <a:pPr algn="just">
              <a:buNone/>
            </a:pPr>
            <a:r>
              <a:rPr lang="en-IN" b="1" dirty="0"/>
              <a:t>                  </a:t>
            </a:r>
            <a:r>
              <a:rPr lang="en-IN" b="1" dirty="0">
                <a:latin typeface="Times New Roman" panose="02020603050405020304" pitchFamily="18" charset="0"/>
                <a:cs typeface="Times New Roman" panose="02020603050405020304" pitchFamily="18" charset="0"/>
              </a:rPr>
              <a:t>Methodology</a:t>
            </a:r>
          </a:p>
          <a:p>
            <a:pPr algn="just">
              <a:buNone/>
            </a:pPr>
            <a:r>
              <a:rPr lang="en-IN" dirty="0">
                <a:latin typeface="Times New Roman" panose="02020603050405020304" pitchFamily="18" charset="0"/>
                <a:cs typeface="Times New Roman" panose="02020603050405020304" pitchFamily="18" charset="0"/>
              </a:rPr>
              <a:t>1. Tools &amp; Frameworks Used</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Cisco Packet Tracer / Wi-Fi Network Setup for designing and simulating the wireless LAN environment.</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Web Server with TLS (HTTPS) for implementing secure communication using TLS.</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Client Devices (PC/Laptop) for accessing the wireless network and testing secure data transfer.</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Digital Certificates for server authentication and secure key exchange.</a:t>
            </a:r>
          </a:p>
        </p:txBody>
      </p:sp>
      <p:sp>
        <p:nvSpPr>
          <p:cNvPr id="13" name="TextBox 12">
            <a:extLst>
              <a:ext uri="{FF2B5EF4-FFF2-40B4-BE49-F238E27FC236}">
                <a16:creationId xmlns:a16="http://schemas.microsoft.com/office/drawing/2014/main" id="{5B1BC784-7CC5-E808-6F3F-068555F86FB8}"/>
              </a:ext>
            </a:extLst>
          </p:cNvPr>
          <p:cNvSpPr txBox="1"/>
          <p:nvPr/>
        </p:nvSpPr>
        <p:spPr>
          <a:xfrm>
            <a:off x="4521666" y="1468074"/>
            <a:ext cx="3900881" cy="4247317"/>
          </a:xfrm>
          <a:prstGeom prst="rect">
            <a:avLst/>
          </a:prstGeom>
          <a:noFill/>
        </p:spPr>
        <p:txBody>
          <a:bodyPr wrap="square">
            <a:spAutoFit/>
          </a:bodyPr>
          <a:lstStyle/>
          <a:p>
            <a:pPr algn="just">
              <a:buNone/>
            </a:pPr>
            <a:r>
              <a:rPr lang="en-US" b="1" dirty="0"/>
              <a:t>                 </a:t>
            </a:r>
            <a:r>
              <a:rPr lang="en-US" b="1" dirty="0">
                <a:latin typeface="Times New Roman" panose="02020603050405020304" pitchFamily="18" charset="0"/>
                <a:cs typeface="Times New Roman" panose="02020603050405020304" pitchFamily="18" charset="0"/>
              </a:rPr>
              <a:t>Development Approach</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Followed a step-by-step approach:</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Designed a wireless LAN with access point and client devices.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Configured the server to support TLS-based HTTPS communication.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Established TLS handshake between client and server.</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Enabled encrypted data transmission over the WLAN.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Verified secure connection and tested end-to-end communication.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Used an iterative test-and-validate cycle to ensure secure data transfer at each stage.</a:t>
            </a:r>
          </a:p>
        </p:txBody>
      </p:sp>
      <p:sp>
        <p:nvSpPr>
          <p:cNvPr id="15" name="TextBox 14">
            <a:extLst>
              <a:ext uri="{FF2B5EF4-FFF2-40B4-BE49-F238E27FC236}">
                <a16:creationId xmlns:a16="http://schemas.microsoft.com/office/drawing/2014/main" id="{854E3BC9-D8CA-2B13-78DB-62E4A412D865}"/>
              </a:ext>
            </a:extLst>
          </p:cNvPr>
          <p:cNvSpPr txBox="1"/>
          <p:nvPr/>
        </p:nvSpPr>
        <p:spPr>
          <a:xfrm>
            <a:off x="8732939" y="1468073"/>
            <a:ext cx="2944536" cy="3970318"/>
          </a:xfrm>
          <a:prstGeom prst="rect">
            <a:avLst/>
          </a:prstGeom>
          <a:noFill/>
        </p:spPr>
        <p:txBody>
          <a:bodyPr wrap="square">
            <a:spAutoFit/>
          </a:bodyPr>
          <a:lstStyle/>
          <a:p>
            <a:pPr>
              <a:buNone/>
            </a:pPr>
            <a:r>
              <a:rPr lang="en-US" b="1" dirty="0"/>
              <a:t>             </a:t>
            </a:r>
            <a:r>
              <a:rPr lang="en-US" b="1" dirty="0">
                <a:latin typeface="Times New Roman" panose="02020603050405020304" pitchFamily="18" charset="0"/>
                <a:cs typeface="Times New Roman" panose="02020603050405020304" pitchFamily="18" charset="0"/>
              </a:rPr>
              <a:t>Data Collection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Verified secure communication using HTTPS connection status.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Observed TLS handshake and certificate details during connection.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Tested connectivity and response using browser access and network tools.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Captured key screenshots of secure sessions and configurations for documentation.</a:t>
            </a:r>
          </a:p>
        </p:txBody>
      </p:sp>
    </p:spTree>
    <p:extLst>
      <p:ext uri="{BB962C8B-B14F-4D97-AF65-F5344CB8AC3E}">
        <p14:creationId xmlns:p14="http://schemas.microsoft.com/office/powerpoint/2010/main" val="4107996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process&#10;&#10;AI-generated content may be incorrect.">
            <a:extLst>
              <a:ext uri="{FF2B5EF4-FFF2-40B4-BE49-F238E27FC236}">
                <a16:creationId xmlns:a16="http://schemas.microsoft.com/office/drawing/2014/main" id="{C165F36A-2A0D-B762-FE6D-46E0DF943401}"/>
              </a:ext>
            </a:extLst>
          </p:cNvPr>
          <p:cNvPicPr>
            <a:picLocks noChangeAspect="1"/>
          </p:cNvPicPr>
          <p:nvPr/>
        </p:nvPicPr>
        <p:blipFill>
          <a:blip r:embed="rId2">
            <a:extLst>
              <a:ext uri="{28A0092B-C50C-407E-A947-70E740481C1C}">
                <a14:useLocalDpi xmlns:a14="http://schemas.microsoft.com/office/drawing/2010/main" val="0"/>
              </a:ext>
            </a:extLst>
          </a:blip>
          <a:srcRect l="782" b="782"/>
          <a:stretch>
            <a:fillRect/>
          </a:stretch>
        </p:blipFill>
        <p:spPr>
          <a:xfrm>
            <a:off x="-34175" y="1367406"/>
            <a:ext cx="12088353" cy="3657819"/>
          </a:xfrm>
          <a:prstGeom prst="rect">
            <a:avLst/>
          </a:prstGeom>
        </p:spPr>
      </p:pic>
      <p:sp>
        <p:nvSpPr>
          <p:cNvPr id="7" name="Rectangle 6">
            <a:extLst>
              <a:ext uri="{FF2B5EF4-FFF2-40B4-BE49-F238E27FC236}">
                <a16:creationId xmlns:a16="http://schemas.microsoft.com/office/drawing/2014/main" id="{22A28225-1EB7-6841-8D06-D292B71DB024}"/>
              </a:ext>
            </a:extLst>
          </p:cNvPr>
          <p:cNvSpPr/>
          <p:nvPr/>
        </p:nvSpPr>
        <p:spPr>
          <a:xfrm>
            <a:off x="2457974" y="4370664"/>
            <a:ext cx="6333688" cy="2206305"/>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Google Shape;84;p1" descr="SSE-Computer Science and Engineering">
            <a:extLst>
              <a:ext uri="{FF2B5EF4-FFF2-40B4-BE49-F238E27FC236}">
                <a16:creationId xmlns:a16="http://schemas.microsoft.com/office/drawing/2014/main" id="{E4B0666B-565E-5361-CCE7-E2B228A3EE52}"/>
              </a:ext>
            </a:extLst>
          </p:cNvPr>
          <p:cNvPicPr preferRelativeResize="0"/>
          <p:nvPr/>
        </p:nvPicPr>
        <p:blipFill rotWithShape="1">
          <a:blip r:embed="rId3">
            <a:alphaModFix/>
          </a:blip>
          <a:srcRect/>
          <a:stretch/>
        </p:blipFill>
        <p:spPr>
          <a:xfrm>
            <a:off x="1524000" y="218361"/>
            <a:ext cx="9144000" cy="905870"/>
          </a:xfrm>
          <a:prstGeom prst="rect">
            <a:avLst/>
          </a:prstGeom>
          <a:noFill/>
          <a:ln>
            <a:noFill/>
          </a:ln>
        </p:spPr>
      </p:pic>
      <p:sp>
        <p:nvSpPr>
          <p:cNvPr id="8" name="Title 7">
            <a:extLst>
              <a:ext uri="{FF2B5EF4-FFF2-40B4-BE49-F238E27FC236}">
                <a16:creationId xmlns:a16="http://schemas.microsoft.com/office/drawing/2014/main" id="{A32C7945-1DE9-5ABC-2CF6-41E3E6481C26}"/>
              </a:ext>
            </a:extLst>
          </p:cNvPr>
          <p:cNvSpPr>
            <a:spLocks noGrp="1"/>
          </p:cNvSpPr>
          <p:nvPr>
            <p:ph type="title"/>
          </p:nvPr>
        </p:nvSpPr>
        <p:spPr>
          <a:xfrm>
            <a:off x="318052" y="1674195"/>
            <a:ext cx="12061466" cy="1754805"/>
          </a:xfrm>
        </p:spPr>
        <p:txBody>
          <a:bodyPr>
            <a:normAutofit/>
          </a:bodyPr>
          <a:lstStyle/>
          <a:p>
            <a:pPr algn="ctr"/>
            <a:r>
              <a:rPr lang="en-IN" sz="3100" b="1" dirty="0">
                <a:solidFill>
                  <a:srgbClr val="FF0000"/>
                </a:solidFill>
                <a:latin typeface="Times New Roman" panose="02020603050405020304" pitchFamily="18" charset="0"/>
                <a:cs typeface="Times New Roman" panose="02020603050405020304" pitchFamily="18" charset="0"/>
              </a:rPr>
              <a:t>System Architecture </a:t>
            </a:r>
            <a:br>
              <a:rPr lang="en-IN" b="1" dirty="0">
                <a:solidFill>
                  <a:srgbClr val="FF0000"/>
                </a:solidFill>
                <a:latin typeface="Times New Roman" panose="02020603050405020304" pitchFamily="18" charset="0"/>
                <a:cs typeface="Times New Roman" panose="02020603050405020304" pitchFamily="18" charset="0"/>
              </a:rPr>
            </a:br>
            <a:br>
              <a:rPr lang="en-IN" b="1" dirty="0">
                <a:solidFill>
                  <a:srgbClr val="FF0000"/>
                </a:solidFill>
                <a:latin typeface="Times New Roman" panose="02020603050405020304" pitchFamily="18" charset="0"/>
                <a:cs typeface="Times New Roman" panose="02020603050405020304" pitchFamily="18" charset="0"/>
              </a:rPr>
            </a:br>
            <a:endParaRPr lang="en-IN" dirty="0"/>
          </a:p>
        </p:txBody>
      </p:sp>
      <p:sp>
        <p:nvSpPr>
          <p:cNvPr id="5" name="TextBox 4">
            <a:extLst>
              <a:ext uri="{FF2B5EF4-FFF2-40B4-BE49-F238E27FC236}">
                <a16:creationId xmlns:a16="http://schemas.microsoft.com/office/drawing/2014/main" id="{457D139C-48D5-55F8-E102-8B4F0F3EB460}"/>
              </a:ext>
            </a:extLst>
          </p:cNvPr>
          <p:cNvSpPr txBox="1"/>
          <p:nvPr/>
        </p:nvSpPr>
        <p:spPr>
          <a:xfrm rot="10800000" flipV="1">
            <a:off x="2541864" y="4595976"/>
            <a:ext cx="6834231" cy="1754326"/>
          </a:xfrm>
          <a:prstGeom prst="rect">
            <a:avLst/>
          </a:prstGeom>
          <a:noFill/>
        </p:spPr>
        <p:txBody>
          <a:bodyPr wrap="square">
            <a:sp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client connects to the WLAN through an access point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server supports TLS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TLS handshake establishes a secure session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Encryption keys are exchanged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data is securely transmitted over the wireless network</a:t>
            </a:r>
          </a:p>
          <a:p>
            <a:pPr>
              <a:buNone/>
            </a:pPr>
            <a:r>
              <a:rPr lang="en-US" dirty="0">
                <a:latin typeface="Times New Roman" panose="02020603050405020304" pitchFamily="18" charset="0"/>
                <a:cs typeface="Times New Roman" panose="02020603050405020304" pitchFamily="18" charset="0"/>
              </a:rPr>
              <a:t>This architecture ensures end-to-end security.</a:t>
            </a:r>
          </a:p>
        </p:txBody>
      </p:sp>
    </p:spTree>
    <p:extLst>
      <p:ext uri="{BB962C8B-B14F-4D97-AF65-F5344CB8AC3E}">
        <p14:creationId xmlns:p14="http://schemas.microsoft.com/office/powerpoint/2010/main" val="3996170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F5B56E2-61FF-6CF7-C35A-F8C187195E73}"/>
              </a:ext>
            </a:extLst>
          </p:cNvPr>
          <p:cNvSpPr/>
          <p:nvPr/>
        </p:nvSpPr>
        <p:spPr>
          <a:xfrm>
            <a:off x="6778305" y="2306972"/>
            <a:ext cx="5086520" cy="3808602"/>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Google Shape;84;p1" descr="SSE-Computer Science and Engineering">
            <a:extLst>
              <a:ext uri="{FF2B5EF4-FFF2-40B4-BE49-F238E27FC236}">
                <a16:creationId xmlns:a16="http://schemas.microsoft.com/office/drawing/2014/main" id="{C6644E29-4857-D0D0-AA8D-294E54C017A8}"/>
              </a:ext>
            </a:extLst>
          </p:cNvPr>
          <p:cNvPicPr preferRelativeResize="0"/>
          <p:nvPr/>
        </p:nvPicPr>
        <p:blipFill rotWithShape="1">
          <a:blip r:embed="rId2">
            <a:alphaModFix/>
          </a:blip>
          <a:srcRect/>
          <a:stretch/>
        </p:blipFill>
        <p:spPr>
          <a:xfrm>
            <a:off x="1524000" y="218361"/>
            <a:ext cx="9144000" cy="905870"/>
          </a:xfrm>
          <a:prstGeom prst="rect">
            <a:avLst/>
          </a:prstGeom>
          <a:noFill/>
          <a:ln>
            <a:noFill/>
          </a:ln>
        </p:spPr>
      </p:pic>
      <p:sp>
        <p:nvSpPr>
          <p:cNvPr id="7" name="Rectangle 3">
            <a:extLst>
              <a:ext uri="{FF2B5EF4-FFF2-40B4-BE49-F238E27FC236}">
                <a16:creationId xmlns:a16="http://schemas.microsoft.com/office/drawing/2014/main" id="{580525D7-AFE3-CAD5-D381-1081BCF04C81}"/>
              </a:ext>
            </a:extLst>
          </p:cNvPr>
          <p:cNvSpPr>
            <a:spLocks noChangeArrowheads="1"/>
          </p:cNvSpPr>
          <p:nvPr/>
        </p:nvSpPr>
        <p:spPr bwMode="auto">
          <a:xfrm>
            <a:off x="0" y="481647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E5054435-7384-380A-21A6-6B899EDD575F}"/>
              </a:ext>
            </a:extLst>
          </p:cNvPr>
          <p:cNvSpPr txBox="1"/>
          <p:nvPr/>
        </p:nvSpPr>
        <p:spPr>
          <a:xfrm>
            <a:off x="1524000" y="1263230"/>
            <a:ext cx="8120932" cy="584775"/>
          </a:xfrm>
          <a:prstGeom prst="rect">
            <a:avLst/>
          </a:prstGeom>
          <a:noFill/>
        </p:spPr>
        <p:txBody>
          <a:bodyPr wrap="squar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Module 1: TLS Protocol Implementation</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3422408E-AB32-BA73-020A-29E920C40C12}"/>
              </a:ext>
            </a:extLst>
          </p:cNvPr>
          <p:cNvSpPr>
            <a:spLocks noGrp="1"/>
          </p:cNvSpPr>
          <p:nvPr>
            <p:ph type="title"/>
          </p:nvPr>
        </p:nvSpPr>
        <p:spPr>
          <a:xfrm>
            <a:off x="3531765" y="1136726"/>
            <a:ext cx="7847201" cy="1786749"/>
          </a:xfrm>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rPr>
              <a:t>Implementation</a:t>
            </a:r>
          </a:p>
        </p:txBody>
      </p:sp>
      <p:graphicFrame>
        <p:nvGraphicFramePr>
          <p:cNvPr id="4" name="Content Placeholder 3">
            <a:extLst>
              <a:ext uri="{FF2B5EF4-FFF2-40B4-BE49-F238E27FC236}">
                <a16:creationId xmlns:a16="http://schemas.microsoft.com/office/drawing/2014/main" id="{F61CCE6E-BDFD-6DFC-1721-71BBCE7C0C34}"/>
              </a:ext>
            </a:extLst>
          </p:cNvPr>
          <p:cNvGraphicFramePr>
            <a:graphicFrameLocks noGrp="1"/>
          </p:cNvGraphicFramePr>
          <p:nvPr>
            <p:ph idx="1"/>
            <p:extLst>
              <p:ext uri="{D42A27DB-BD31-4B8C-83A1-F6EECF244321}">
                <p14:modId xmlns:p14="http://schemas.microsoft.com/office/powerpoint/2010/main" val="2554625344"/>
              </p:ext>
            </p:extLst>
          </p:nvPr>
        </p:nvGraphicFramePr>
        <p:xfrm>
          <a:off x="327171" y="2399251"/>
          <a:ext cx="5209563" cy="4389120"/>
        </p:xfrm>
        <a:graphic>
          <a:graphicData uri="http://schemas.openxmlformats.org/drawingml/2006/table">
            <a:tbl>
              <a:tblPr/>
              <a:tblGrid>
                <a:gridCol w="1736521">
                  <a:extLst>
                    <a:ext uri="{9D8B030D-6E8A-4147-A177-3AD203B41FA5}">
                      <a16:colId xmlns:a16="http://schemas.microsoft.com/office/drawing/2014/main" val="2268795480"/>
                    </a:ext>
                  </a:extLst>
                </a:gridCol>
                <a:gridCol w="1736521">
                  <a:extLst>
                    <a:ext uri="{9D8B030D-6E8A-4147-A177-3AD203B41FA5}">
                      <a16:colId xmlns:a16="http://schemas.microsoft.com/office/drawing/2014/main" val="338899305"/>
                    </a:ext>
                  </a:extLst>
                </a:gridCol>
                <a:gridCol w="1736521">
                  <a:extLst>
                    <a:ext uri="{9D8B030D-6E8A-4147-A177-3AD203B41FA5}">
                      <a16:colId xmlns:a16="http://schemas.microsoft.com/office/drawing/2014/main" val="2621316821"/>
                    </a:ext>
                  </a:extLst>
                </a:gridCol>
              </a:tblGrid>
              <a:tr h="358629">
                <a:tc>
                  <a:txBody>
                    <a:bodyPr/>
                    <a:lstStyle/>
                    <a:p>
                      <a:pPr>
                        <a:buNone/>
                      </a:pPr>
                      <a:r>
                        <a:rPr lang="en-IN" b="1" dirty="0">
                          <a:latin typeface="Times New Roman" panose="02020603050405020304" pitchFamily="18" charset="0"/>
                          <a:cs typeface="Times New Roman" panose="02020603050405020304" pitchFamily="18" charset="0"/>
                        </a:rPr>
                        <a:t>Device Type</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latin typeface="Times New Roman" panose="02020603050405020304" pitchFamily="18" charset="0"/>
                          <a:cs typeface="Times New Roman" panose="02020603050405020304" pitchFamily="18" charset="0"/>
                        </a:rPr>
                        <a:t>Model / Details</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latin typeface="Times New Roman" panose="02020603050405020304" pitchFamily="18" charset="0"/>
                          <a:cs typeface="Times New Roman" panose="02020603050405020304" pitchFamily="18" charset="0"/>
                        </a:rPr>
                        <a:t>Purpose</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5167352"/>
                  </a:ext>
                </a:extLst>
              </a:tr>
              <a:tr h="627601">
                <a:tc>
                  <a:txBody>
                    <a:bodyPr/>
                    <a:lstStyle/>
                    <a:p>
                      <a:pPr>
                        <a:buNone/>
                      </a:pPr>
                      <a:r>
                        <a:rPr lang="en-IN">
                          <a:latin typeface="Times New Roman" panose="02020603050405020304" pitchFamily="18" charset="0"/>
                          <a:cs typeface="Times New Roman" panose="02020603050405020304" pitchFamily="18" charset="0"/>
                        </a:rPr>
                        <a:t>Wireless Access Point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PT-AP / Wireless Router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Provides Wi-Fi connectivity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1898581"/>
                  </a:ext>
                </a:extLst>
              </a:tr>
              <a:tr h="896574">
                <a:tc>
                  <a:txBody>
                    <a:bodyPr/>
                    <a:lstStyle/>
                    <a:p>
                      <a:pPr>
                        <a:buNone/>
                      </a:pPr>
                      <a:r>
                        <a:rPr lang="en-IN">
                          <a:latin typeface="Times New Roman" panose="02020603050405020304" pitchFamily="18" charset="0"/>
                          <a:cs typeface="Times New Roman" panose="02020603050405020304" pitchFamily="18" charset="0"/>
                        </a:rPr>
                        <a:t>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PT Server (HTTPS enabled)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Hosts secure TLS service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9212063"/>
                  </a:ext>
                </a:extLst>
              </a:tr>
              <a:tr h="896574">
                <a:tc>
                  <a:txBody>
                    <a:bodyPr/>
                    <a:lstStyle/>
                    <a:p>
                      <a:pPr>
                        <a:buNone/>
                      </a:pPr>
                      <a:r>
                        <a:rPr lang="en-IN">
                          <a:latin typeface="Times New Roman" panose="02020603050405020304" pitchFamily="18" charset="0"/>
                          <a:cs typeface="Times New Roman" panose="02020603050405020304" pitchFamily="18" charset="0"/>
                        </a:rPr>
                        <a:t>Client Devices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PC / Laptop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Access secure wireless network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8174289"/>
                  </a:ext>
                </a:extLst>
              </a:tr>
              <a:tr h="627601">
                <a:tc>
                  <a:txBody>
                    <a:bodyPr/>
                    <a:lstStyle/>
                    <a:p>
                      <a:pPr>
                        <a:buNone/>
                      </a:pPr>
                      <a:r>
                        <a:rPr lang="en-IN">
                          <a:latin typeface="Times New Roman" panose="02020603050405020304" pitchFamily="18" charset="0"/>
                          <a:cs typeface="Times New Roman" panose="02020603050405020304" pitchFamily="18" charset="0"/>
                        </a:rPr>
                        <a:t>Network Cables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Straight-through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Connects server to router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722625"/>
                  </a:ext>
                </a:extLst>
              </a:tr>
              <a:tr h="896574">
                <a:tc>
                  <a:txBody>
                    <a:bodyPr/>
                    <a:lstStyle/>
                    <a:p>
                      <a:pPr>
                        <a:buNone/>
                      </a:pPr>
                      <a:r>
                        <a:rPr lang="en-IN">
                          <a:latin typeface="Times New Roman" panose="02020603050405020304" pitchFamily="18" charset="0"/>
                          <a:cs typeface="Times New Roman" panose="02020603050405020304" pitchFamily="18" charset="0"/>
                        </a:rPr>
                        <a:t>Digital Certificates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TLS Certificates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Enables authentication &amp; encryption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1119913"/>
                  </a:ext>
                </a:extLst>
              </a:tr>
            </a:tbl>
          </a:graphicData>
        </a:graphic>
      </p:graphicFrame>
      <p:cxnSp>
        <p:nvCxnSpPr>
          <p:cNvPr id="9" name="Straight Connector 8">
            <a:extLst>
              <a:ext uri="{FF2B5EF4-FFF2-40B4-BE49-F238E27FC236}">
                <a16:creationId xmlns:a16="http://schemas.microsoft.com/office/drawing/2014/main" id="{7140ED84-0C9A-6DC1-528A-5D57E56BE36D}"/>
              </a:ext>
            </a:extLst>
          </p:cNvPr>
          <p:cNvCxnSpPr>
            <a:cxnSpLocks/>
          </p:cNvCxnSpPr>
          <p:nvPr/>
        </p:nvCxnSpPr>
        <p:spPr>
          <a:xfrm>
            <a:off x="6096000" y="2306972"/>
            <a:ext cx="0" cy="455102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D48FC4A-BAF2-F1CF-38DE-2B9786307636}"/>
              </a:ext>
            </a:extLst>
          </p:cNvPr>
          <p:cNvSpPr txBox="1"/>
          <p:nvPr/>
        </p:nvSpPr>
        <p:spPr>
          <a:xfrm>
            <a:off x="6971269" y="2508307"/>
            <a:ext cx="4496475" cy="3416320"/>
          </a:xfrm>
          <a:prstGeom prst="rect">
            <a:avLst/>
          </a:prstGeom>
          <a:noFill/>
        </p:spPr>
        <p:txBody>
          <a:bodyPr wrap="square">
            <a:spAutoFit/>
          </a:bodyPr>
          <a:lstStyle/>
          <a:p>
            <a:pPr>
              <a:buNone/>
            </a:pPr>
            <a:r>
              <a:rPr lang="en-US" b="1" dirty="0"/>
              <a:t>                     </a:t>
            </a:r>
            <a:r>
              <a:rPr lang="en-US" b="1" dirty="0">
                <a:latin typeface="Times New Roman" panose="02020603050405020304" pitchFamily="18" charset="0"/>
                <a:cs typeface="Times New Roman" panose="02020603050405020304" pitchFamily="18" charset="0"/>
              </a:rPr>
              <a:t>Implementation Steps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Designed a </a:t>
            </a:r>
            <a:r>
              <a:rPr lang="en-US" b="1" dirty="0">
                <a:latin typeface="Times New Roman" panose="02020603050405020304" pitchFamily="18" charset="0"/>
                <a:cs typeface="Times New Roman" panose="02020603050405020304" pitchFamily="18" charset="0"/>
              </a:rPr>
              <a:t>wireless LAN topology</a:t>
            </a:r>
            <a:r>
              <a:rPr lang="en-US" dirty="0">
                <a:latin typeface="Times New Roman" panose="02020603050405020304" pitchFamily="18" charset="0"/>
                <a:cs typeface="Times New Roman" panose="02020603050405020304" pitchFamily="18" charset="0"/>
              </a:rPr>
              <a:t> with Access Point, server, and clients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Configured the server to support </a:t>
            </a:r>
            <a:r>
              <a:rPr lang="en-US" b="1" dirty="0">
                <a:latin typeface="Times New Roman" panose="02020603050405020304" pitchFamily="18" charset="0"/>
                <a:cs typeface="Times New Roman" panose="02020603050405020304" pitchFamily="18" charset="0"/>
              </a:rPr>
              <a:t>HTTPS using TLS</a:t>
            </a: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Installed and verified </a:t>
            </a:r>
            <a:r>
              <a:rPr lang="en-US" b="1" dirty="0">
                <a:latin typeface="Times New Roman" panose="02020603050405020304" pitchFamily="18" charset="0"/>
                <a:cs typeface="Times New Roman" panose="02020603050405020304" pitchFamily="18" charset="0"/>
              </a:rPr>
              <a:t>digital certificates</a:t>
            </a:r>
            <a:r>
              <a:rPr lang="en-US" dirty="0">
                <a:latin typeface="Times New Roman" panose="02020603050405020304" pitchFamily="18" charset="0"/>
                <a:cs typeface="Times New Roman" panose="02020603050405020304" pitchFamily="18" charset="0"/>
              </a:rPr>
              <a:t> on the server</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Connected client devices to the WLAN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Initiated </a:t>
            </a:r>
            <a:r>
              <a:rPr lang="en-US" b="1" dirty="0">
                <a:latin typeface="Times New Roman" panose="02020603050405020304" pitchFamily="18" charset="0"/>
                <a:cs typeface="Times New Roman" panose="02020603050405020304" pitchFamily="18" charset="0"/>
              </a:rPr>
              <a:t>TLS handshake</a:t>
            </a:r>
            <a:r>
              <a:rPr lang="en-US" dirty="0">
                <a:latin typeface="Times New Roman" panose="02020603050405020304" pitchFamily="18" charset="0"/>
                <a:cs typeface="Times New Roman" panose="02020603050405020304" pitchFamily="18" charset="0"/>
              </a:rPr>
              <a:t> between client and server</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Established encrypted session and transmitted data securely over Wi-Fi</a:t>
            </a:r>
          </a:p>
        </p:txBody>
      </p:sp>
    </p:spTree>
    <p:extLst>
      <p:ext uri="{BB962C8B-B14F-4D97-AF65-F5344CB8AC3E}">
        <p14:creationId xmlns:p14="http://schemas.microsoft.com/office/powerpoint/2010/main" val="2606086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22F6B-C5A6-57F4-D97F-4D220D915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8BF963-6326-D667-9ED7-168DD175D3C9}"/>
              </a:ext>
            </a:extLst>
          </p:cNvPr>
          <p:cNvSpPr>
            <a:spLocks noGrp="1"/>
          </p:cNvSpPr>
          <p:nvPr>
            <p:ph type="title"/>
          </p:nvPr>
        </p:nvSpPr>
        <p:spPr>
          <a:xfrm>
            <a:off x="1258349" y="805342"/>
            <a:ext cx="10131231" cy="847289"/>
          </a:xfrm>
        </p:spPr>
        <p:txBody>
          <a:bodyPr>
            <a:noAutofit/>
          </a:bodyPr>
          <a:lstStyle/>
          <a:p>
            <a:r>
              <a:rPr lang="en-IN" sz="2800" b="1" dirty="0">
                <a:latin typeface="Times New Roman" panose="02020603050405020304" pitchFamily="18" charset="0"/>
                <a:cs typeface="Times New Roman" panose="02020603050405020304" pitchFamily="18" charset="0"/>
              </a:rPr>
              <a:t>Module 2:Secure Transmission Techniques Using TLS</a:t>
            </a:r>
          </a:p>
        </p:txBody>
      </p:sp>
      <p:pic>
        <p:nvPicPr>
          <p:cNvPr id="4" name="Google Shape;84;p1" descr="SSE-Computer Science and Engineering">
            <a:extLst>
              <a:ext uri="{FF2B5EF4-FFF2-40B4-BE49-F238E27FC236}">
                <a16:creationId xmlns:a16="http://schemas.microsoft.com/office/drawing/2014/main" id="{B5659143-7E77-37BF-2EBB-738138324043}"/>
              </a:ext>
            </a:extLst>
          </p:cNvPr>
          <p:cNvPicPr preferRelativeResize="0"/>
          <p:nvPr/>
        </p:nvPicPr>
        <p:blipFill rotWithShape="1">
          <a:blip r:embed="rId2">
            <a:alphaModFix/>
          </a:blip>
          <a:srcRect/>
          <a:stretch/>
        </p:blipFill>
        <p:spPr>
          <a:xfrm>
            <a:off x="1124125" y="218361"/>
            <a:ext cx="9543875" cy="654094"/>
          </a:xfrm>
          <a:prstGeom prst="rect">
            <a:avLst/>
          </a:prstGeom>
          <a:noFill/>
          <a:ln>
            <a:noFill/>
          </a:ln>
        </p:spPr>
      </p:pic>
      <p:sp>
        <p:nvSpPr>
          <p:cNvPr id="5" name="Rectangle 1">
            <a:extLst>
              <a:ext uri="{FF2B5EF4-FFF2-40B4-BE49-F238E27FC236}">
                <a16:creationId xmlns:a16="http://schemas.microsoft.com/office/drawing/2014/main" id="{8F494666-9A33-FB77-02C0-BAE88C295DBC}"/>
              </a:ext>
            </a:extLst>
          </p:cNvPr>
          <p:cNvSpPr>
            <a:spLocks noGrp="1" noChangeArrowheads="1"/>
          </p:cNvSpPr>
          <p:nvPr>
            <p:ph idx="1"/>
          </p:nvPr>
        </p:nvSpPr>
        <p:spPr bwMode="auto">
          <a:xfrm>
            <a:off x="234892" y="1573909"/>
            <a:ext cx="11258025"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1800" b="1" dirty="0">
                <a:latin typeface="Arial" panose="020B0604020202020204" pitchFamily="34" charset="0"/>
                <a:cs typeface="Times New Roman" panose="02020603050405020304" pitchFamily="18" charset="0"/>
              </a:rPr>
              <a:t>                                                    </a:t>
            </a:r>
            <a:r>
              <a:rPr lang="en-IN" b="1" dirty="0">
                <a:solidFill>
                  <a:srgbClr val="FF0000"/>
                </a:solidFill>
                <a:latin typeface="Times New Roman" panose="02020603050405020304" pitchFamily="18" charset="0"/>
                <a:cs typeface="Times New Roman" panose="02020603050405020304" pitchFamily="18" charset="0"/>
              </a:rPr>
              <a:t>Secure Transmission</a:t>
            </a:r>
            <a:r>
              <a:rPr kumimoji="0" lang="en-US" altLang="en-US" b="1" i="0" u="none" strike="noStrike" cap="none" normalizeH="0" baseline="0" dirty="0">
                <a:ln>
                  <a:noFill/>
                </a:ln>
                <a:solidFill>
                  <a:srgbClr val="FF0000"/>
                </a:solidFill>
                <a:effectLst/>
                <a:latin typeface="Arial" panose="020B0604020202020204" pitchFamily="34" charset="0"/>
              </a:rPr>
              <a:t>                                   </a:t>
            </a:r>
            <a:endParaRPr kumimoji="0" lang="en-US" altLang="en-US" sz="1800" b="1"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Encryption of Data</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TLS encrypts all data before transmission, converting it into unreadable cipher text to protect sensitive information from eavesdropping.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TLS Handshake Mechanism</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secure handshake process is used to authenticate the server and generate secret session keys before data transfer begins.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Certificate Authentication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TLS uses digital certificates issued by trusted Certificate Authorities to verify the identity of the server.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Key Exchange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Encryption keys are securely exchanged using asymmetric cryptography, and symmetric keys are used for fast data transmission.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Integrity Checks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Hashing and message authentication codes (MACs) ensure that data is not altered during transmission.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Session Management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sessions are maintained throughout communication, preventing replay attacks and unauthorized access.</a:t>
            </a:r>
          </a:p>
        </p:txBody>
      </p:sp>
    </p:spTree>
    <p:extLst>
      <p:ext uri="{BB962C8B-B14F-4D97-AF65-F5344CB8AC3E}">
        <p14:creationId xmlns:p14="http://schemas.microsoft.com/office/powerpoint/2010/main" val="2049244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8EDF4-D37C-F426-9A61-1A698324F4D1}"/>
            </a:ext>
          </a:extLst>
        </p:cNvPr>
        <p:cNvGrpSpPr/>
        <p:nvPr/>
      </p:nvGrpSpPr>
      <p:grpSpPr>
        <a:xfrm>
          <a:off x="0" y="0"/>
          <a:ext cx="0" cy="0"/>
          <a:chOff x="0" y="0"/>
          <a:chExt cx="0" cy="0"/>
        </a:xfrm>
      </p:grpSpPr>
      <p:pic>
        <p:nvPicPr>
          <p:cNvPr id="2" name="Google Shape;84;p1" descr="SSE-Computer Science and Engineering">
            <a:extLst>
              <a:ext uri="{FF2B5EF4-FFF2-40B4-BE49-F238E27FC236}">
                <a16:creationId xmlns:a16="http://schemas.microsoft.com/office/drawing/2014/main" id="{24A7DC61-C30A-2723-A6E6-6BB89E40FF77}"/>
              </a:ext>
            </a:extLst>
          </p:cNvPr>
          <p:cNvPicPr preferRelativeResize="0"/>
          <p:nvPr/>
        </p:nvPicPr>
        <p:blipFill rotWithShape="1">
          <a:blip r:embed="rId2">
            <a:alphaModFix/>
          </a:blip>
          <a:srcRect/>
          <a:stretch/>
        </p:blipFill>
        <p:spPr>
          <a:xfrm>
            <a:off x="1524000" y="218361"/>
            <a:ext cx="9144000" cy="905870"/>
          </a:xfrm>
          <a:prstGeom prst="rect">
            <a:avLst/>
          </a:prstGeom>
          <a:noFill/>
          <a:ln>
            <a:noFill/>
          </a:ln>
        </p:spPr>
      </p:pic>
      <p:sp>
        <p:nvSpPr>
          <p:cNvPr id="8" name="Title 7">
            <a:extLst>
              <a:ext uri="{FF2B5EF4-FFF2-40B4-BE49-F238E27FC236}">
                <a16:creationId xmlns:a16="http://schemas.microsoft.com/office/drawing/2014/main" id="{6E841200-DC5D-5D0A-1AD5-FFD246DDA503}"/>
              </a:ext>
            </a:extLst>
          </p:cNvPr>
          <p:cNvSpPr>
            <a:spLocks noGrp="1"/>
          </p:cNvSpPr>
          <p:nvPr>
            <p:ph type="title"/>
          </p:nvPr>
        </p:nvSpPr>
        <p:spPr>
          <a:xfrm>
            <a:off x="318052" y="1602298"/>
            <a:ext cx="9835764" cy="977768"/>
          </a:xfrm>
        </p:spPr>
        <p:txBody>
          <a:bodyPr>
            <a:normAutofit fontScale="90000"/>
          </a:bodyPr>
          <a:lstStyle/>
          <a:p>
            <a:pPr algn="ctr"/>
            <a:br>
              <a:rPr lang="en-IN" b="1" dirty="0">
                <a:solidFill>
                  <a:srgbClr val="FF0000"/>
                </a:solidFill>
                <a:latin typeface="Times New Roman" panose="02020603050405020304" pitchFamily="18" charset="0"/>
                <a:cs typeface="Times New Roman" panose="02020603050405020304" pitchFamily="18" charset="0"/>
              </a:rPr>
            </a:br>
            <a:br>
              <a:rPr lang="en-IN" b="1" dirty="0">
                <a:solidFill>
                  <a:srgbClr val="FF0000"/>
                </a:solidFill>
                <a:latin typeface="Times New Roman" panose="02020603050405020304" pitchFamily="18" charset="0"/>
                <a:cs typeface="Times New Roman" panose="02020603050405020304" pitchFamily="18" charset="0"/>
              </a:rPr>
            </a:br>
            <a:endParaRPr lang="en-IN" dirty="0"/>
          </a:p>
        </p:txBody>
      </p:sp>
      <p:pic>
        <p:nvPicPr>
          <p:cNvPr id="4" name="Picture 3" descr="A diagram of a computer network&#10;&#10;AI-generated content may be incorrect.">
            <a:extLst>
              <a:ext uri="{FF2B5EF4-FFF2-40B4-BE49-F238E27FC236}">
                <a16:creationId xmlns:a16="http://schemas.microsoft.com/office/drawing/2014/main" id="{AC00C31B-4D0A-D5FD-DCDF-2B48C302CF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199" y="1417738"/>
            <a:ext cx="9835763" cy="4621111"/>
          </a:xfrm>
          <a:prstGeom prst="rect">
            <a:avLst/>
          </a:prstGeom>
        </p:spPr>
      </p:pic>
    </p:spTree>
    <p:extLst>
      <p:ext uri="{BB962C8B-B14F-4D97-AF65-F5344CB8AC3E}">
        <p14:creationId xmlns:p14="http://schemas.microsoft.com/office/powerpoint/2010/main" val="2976189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FE00C02-39CC-FC99-66EA-176F506A9015}"/>
              </a:ext>
            </a:extLst>
          </p:cNvPr>
          <p:cNvSpPr/>
          <p:nvPr/>
        </p:nvSpPr>
        <p:spPr>
          <a:xfrm>
            <a:off x="8398778" y="2280557"/>
            <a:ext cx="3549941" cy="3946218"/>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4D441B90-CD44-E768-C039-2E0B5CAD01DA}"/>
              </a:ext>
            </a:extLst>
          </p:cNvPr>
          <p:cNvSpPr/>
          <p:nvPr/>
        </p:nvSpPr>
        <p:spPr>
          <a:xfrm>
            <a:off x="4430785" y="2280557"/>
            <a:ext cx="3748481" cy="3946218"/>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49921E58-6086-18ED-CFC6-1BD558FA1ED8}"/>
              </a:ext>
            </a:extLst>
          </p:cNvPr>
          <p:cNvSpPr/>
          <p:nvPr/>
        </p:nvSpPr>
        <p:spPr>
          <a:xfrm>
            <a:off x="243281" y="2256639"/>
            <a:ext cx="4035104" cy="3970136"/>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Google Shape;84;p1" descr="SSE-Computer Science and Engineering">
            <a:extLst>
              <a:ext uri="{FF2B5EF4-FFF2-40B4-BE49-F238E27FC236}">
                <a16:creationId xmlns:a16="http://schemas.microsoft.com/office/drawing/2014/main" id="{CCAADABC-2F72-BD42-FE43-7DAF04FF59EE}"/>
              </a:ext>
            </a:extLst>
          </p:cNvPr>
          <p:cNvPicPr preferRelativeResize="0"/>
          <p:nvPr/>
        </p:nvPicPr>
        <p:blipFill rotWithShape="1">
          <a:blip r:embed="rId2">
            <a:alphaModFix/>
          </a:blip>
          <a:srcRect/>
          <a:stretch/>
        </p:blipFill>
        <p:spPr>
          <a:xfrm>
            <a:off x="1524000" y="255271"/>
            <a:ext cx="9144000" cy="905870"/>
          </a:xfrm>
          <a:prstGeom prst="rect">
            <a:avLst/>
          </a:prstGeom>
          <a:noFill/>
          <a:ln>
            <a:noFill/>
          </a:ln>
        </p:spPr>
      </p:pic>
      <p:sp>
        <p:nvSpPr>
          <p:cNvPr id="6" name="TextBox 5">
            <a:extLst>
              <a:ext uri="{FF2B5EF4-FFF2-40B4-BE49-F238E27FC236}">
                <a16:creationId xmlns:a16="http://schemas.microsoft.com/office/drawing/2014/main" id="{DCEFB107-7932-90BD-4357-E365C13E7AFA}"/>
              </a:ext>
            </a:extLst>
          </p:cNvPr>
          <p:cNvSpPr txBox="1"/>
          <p:nvPr/>
        </p:nvSpPr>
        <p:spPr>
          <a:xfrm>
            <a:off x="1447137" y="1459239"/>
            <a:ext cx="10267786"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Module 3:Ensuring Secure Wireless LAN Transmission</a:t>
            </a:r>
            <a:endParaRPr lang="en-IN" sz="2800" dirty="0"/>
          </a:p>
        </p:txBody>
      </p:sp>
      <p:sp>
        <p:nvSpPr>
          <p:cNvPr id="5" name="TextBox 4">
            <a:extLst>
              <a:ext uri="{FF2B5EF4-FFF2-40B4-BE49-F238E27FC236}">
                <a16:creationId xmlns:a16="http://schemas.microsoft.com/office/drawing/2014/main" id="{BF001561-AFEB-5938-3C83-4AA5D3192B58}"/>
              </a:ext>
            </a:extLst>
          </p:cNvPr>
          <p:cNvSpPr txBox="1"/>
          <p:nvPr/>
        </p:nvSpPr>
        <p:spPr>
          <a:xfrm>
            <a:off x="335560" y="2444714"/>
            <a:ext cx="3825380" cy="3139321"/>
          </a:xfrm>
          <a:prstGeom prst="rect">
            <a:avLst/>
          </a:prstGeom>
          <a:noFill/>
        </p:spPr>
        <p:txBody>
          <a:bodyPr wrap="square">
            <a:spAutoFit/>
          </a:bodyPr>
          <a:lstStyle/>
          <a:p>
            <a:pPr>
              <a:buNone/>
            </a:pPr>
            <a:r>
              <a:rPr lang="en-US" b="1" dirty="0"/>
              <a:t>                   </a:t>
            </a:r>
            <a:r>
              <a:rPr lang="en-US" b="1" dirty="0">
                <a:latin typeface="Times New Roman" panose="02020603050405020304" pitchFamily="18" charset="0"/>
                <a:cs typeface="Times New Roman" panose="02020603050405020304" pitchFamily="18" charset="0"/>
              </a:rPr>
              <a:t>Key Features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Verified TLS secure connection establishment</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HTTPS enabled</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TLS handshake successful</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Server authentication verified using digital certificates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Encrypted data transmission confirmed over wireless LAN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Client-to-Server secure communication tested successfully</a:t>
            </a:r>
          </a:p>
        </p:txBody>
      </p:sp>
      <p:sp>
        <p:nvSpPr>
          <p:cNvPr id="9" name="TextBox 8">
            <a:extLst>
              <a:ext uri="{FF2B5EF4-FFF2-40B4-BE49-F238E27FC236}">
                <a16:creationId xmlns:a16="http://schemas.microsoft.com/office/drawing/2014/main" id="{03B7B850-1604-9A7D-F5B9-63370780CE8A}"/>
              </a:ext>
            </a:extLst>
          </p:cNvPr>
          <p:cNvSpPr txBox="1"/>
          <p:nvPr/>
        </p:nvSpPr>
        <p:spPr>
          <a:xfrm>
            <a:off x="4546833" y="2444714"/>
            <a:ext cx="3330429" cy="3782061"/>
          </a:xfrm>
          <a:prstGeom prst="rect">
            <a:avLst/>
          </a:prstGeom>
          <a:noFill/>
        </p:spPr>
        <p:txBody>
          <a:bodyPr wrap="square">
            <a:spAutoFit/>
          </a:bodyPr>
          <a:lstStyle/>
          <a:p>
            <a:pPr>
              <a:lnSpc>
                <a:spcPct val="150000"/>
              </a:lnSpc>
              <a:buNone/>
            </a:pPr>
            <a:r>
              <a:rPr lang="en-IN" b="1" dirty="0"/>
              <a:t>           </a:t>
            </a:r>
            <a:r>
              <a:rPr lang="en-IN" b="1" dirty="0">
                <a:latin typeface="Times New Roman" panose="02020603050405020304" pitchFamily="18" charset="0"/>
                <a:cs typeface="Times New Roman" panose="02020603050405020304" pitchFamily="18" charset="0"/>
              </a:rPr>
              <a:t>Verification Details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Confirmed </a:t>
            </a:r>
            <a:r>
              <a:rPr lang="en-IN" b="1" dirty="0">
                <a:latin typeface="Times New Roman" panose="02020603050405020304" pitchFamily="18" charset="0"/>
                <a:cs typeface="Times New Roman" panose="02020603050405020304" pitchFamily="18" charset="0"/>
              </a:rPr>
              <a:t>HTTPS lock symbol</a:t>
            </a:r>
            <a:r>
              <a:rPr lang="en-IN" dirty="0">
                <a:latin typeface="Times New Roman" panose="02020603050405020304" pitchFamily="18" charset="0"/>
                <a:cs typeface="Times New Roman" panose="02020603050405020304" pitchFamily="18" charset="0"/>
              </a:rPr>
              <a:t> in browser</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Checked </a:t>
            </a:r>
            <a:r>
              <a:rPr lang="en-IN" b="1" dirty="0">
                <a:latin typeface="Times New Roman" panose="02020603050405020304" pitchFamily="18" charset="0"/>
                <a:cs typeface="Times New Roman" panose="02020603050405020304" pitchFamily="18" charset="0"/>
              </a:rPr>
              <a:t>TLS certificate details</a:t>
            </a:r>
            <a:r>
              <a:rPr lang="en-IN" dirty="0">
                <a:latin typeface="Times New Roman" panose="02020603050405020304" pitchFamily="18" charset="0"/>
                <a:cs typeface="Times New Roman" panose="02020603050405020304" pitchFamily="18" charset="0"/>
              </a:rPr>
              <a:t> (issuer, validity, encryption)</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Observed secure session establishment before data transfer</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Verified data confidentiality and integrity during transmission</a:t>
            </a:r>
          </a:p>
        </p:txBody>
      </p:sp>
      <p:sp>
        <p:nvSpPr>
          <p:cNvPr id="11" name="TextBox 10">
            <a:extLst>
              <a:ext uri="{FF2B5EF4-FFF2-40B4-BE49-F238E27FC236}">
                <a16:creationId xmlns:a16="http://schemas.microsoft.com/office/drawing/2014/main" id="{73A391AB-2104-6371-4901-1F193F580737}"/>
              </a:ext>
            </a:extLst>
          </p:cNvPr>
          <p:cNvSpPr txBox="1"/>
          <p:nvPr/>
        </p:nvSpPr>
        <p:spPr>
          <a:xfrm>
            <a:off x="8481270" y="2444713"/>
            <a:ext cx="3233653" cy="2951064"/>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   Performance Observation</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Slight delay during initial TLS handshake</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Normal response time after secure session establishment</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packet loss or data corruption observed</a:t>
            </a:r>
          </a:p>
        </p:txBody>
      </p:sp>
    </p:spTree>
    <p:extLst>
      <p:ext uri="{BB962C8B-B14F-4D97-AF65-F5344CB8AC3E}">
        <p14:creationId xmlns:p14="http://schemas.microsoft.com/office/powerpoint/2010/main" val="3475527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B4BEC-E134-CC35-AA52-B7218A0522D3}"/>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5BB0BF2B-B18C-FAAF-EFBD-613FA3A68B95}"/>
              </a:ext>
            </a:extLst>
          </p:cNvPr>
          <p:cNvSpPr/>
          <p:nvPr/>
        </p:nvSpPr>
        <p:spPr>
          <a:xfrm>
            <a:off x="318782" y="5125673"/>
            <a:ext cx="7046753" cy="153559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B468658-4B0A-2D8D-7945-3694A08AEF19}"/>
              </a:ext>
            </a:extLst>
          </p:cNvPr>
          <p:cNvSpPr/>
          <p:nvPr/>
        </p:nvSpPr>
        <p:spPr>
          <a:xfrm>
            <a:off x="209727" y="1789529"/>
            <a:ext cx="7155808" cy="304253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Google Shape;84;p1" descr="SSE-Computer Science and Engineering">
            <a:extLst>
              <a:ext uri="{FF2B5EF4-FFF2-40B4-BE49-F238E27FC236}">
                <a16:creationId xmlns:a16="http://schemas.microsoft.com/office/drawing/2014/main" id="{4323F16C-74BF-9ED4-FF01-1CDEB77A00CC}"/>
              </a:ext>
            </a:extLst>
          </p:cNvPr>
          <p:cNvPicPr preferRelativeResize="0"/>
          <p:nvPr/>
        </p:nvPicPr>
        <p:blipFill rotWithShape="1">
          <a:blip r:embed="rId2">
            <a:alphaModFix/>
          </a:blip>
          <a:srcRect/>
          <a:stretch/>
        </p:blipFill>
        <p:spPr>
          <a:xfrm>
            <a:off x="1524000" y="196738"/>
            <a:ext cx="9144000" cy="905870"/>
          </a:xfrm>
          <a:prstGeom prst="rect">
            <a:avLst/>
          </a:prstGeom>
          <a:noFill/>
          <a:ln>
            <a:noFill/>
          </a:ln>
        </p:spPr>
      </p:pic>
      <p:sp>
        <p:nvSpPr>
          <p:cNvPr id="8" name="Title 7">
            <a:extLst>
              <a:ext uri="{FF2B5EF4-FFF2-40B4-BE49-F238E27FC236}">
                <a16:creationId xmlns:a16="http://schemas.microsoft.com/office/drawing/2014/main" id="{838562E5-B9EE-77AE-F2EB-83680F4BB23C}"/>
              </a:ext>
            </a:extLst>
          </p:cNvPr>
          <p:cNvSpPr>
            <a:spLocks noGrp="1"/>
          </p:cNvSpPr>
          <p:nvPr>
            <p:ph type="title"/>
          </p:nvPr>
        </p:nvSpPr>
        <p:spPr/>
        <p:txBody>
          <a:bodyPr>
            <a:normAutofit fontScale="90000"/>
          </a:bodyPr>
          <a:lstStyle/>
          <a:p>
            <a:pPr algn="ctr"/>
            <a:br>
              <a:rPr lang="en-IN" b="1" dirty="0">
                <a:solidFill>
                  <a:srgbClr val="FF0000"/>
                </a:solidFill>
                <a:latin typeface="Times New Roman" panose="02020603050405020304" pitchFamily="18" charset="0"/>
                <a:cs typeface="Times New Roman" panose="02020603050405020304" pitchFamily="18" charset="0"/>
              </a:rPr>
            </a:br>
            <a:br>
              <a:rPr lang="en-IN" b="1" dirty="0">
                <a:solidFill>
                  <a:srgbClr val="FF0000"/>
                </a:solidFill>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2F6B76C2-8F00-0067-03AC-22DDFB172B8F}"/>
              </a:ext>
            </a:extLst>
          </p:cNvPr>
          <p:cNvSpPr>
            <a:spLocks noGrp="1"/>
          </p:cNvSpPr>
          <p:nvPr>
            <p:ph idx="1"/>
          </p:nvPr>
        </p:nvSpPr>
        <p:spPr>
          <a:xfrm>
            <a:off x="402672" y="1921079"/>
            <a:ext cx="6677635" cy="2776756"/>
          </a:xfrm>
        </p:spPr>
        <p:txBody>
          <a:bodyPr>
            <a:normAutofit fontScale="40000" lnSpcReduction="20000"/>
          </a:bodyPr>
          <a:lstStyle/>
          <a:p>
            <a:pPr marL="0" indent="0">
              <a:buNone/>
            </a:pPr>
            <a:r>
              <a:rPr lang="en-US" b="1" dirty="0"/>
              <a:t>                                                    </a:t>
            </a:r>
            <a:r>
              <a:rPr lang="en-US" sz="4000" b="1" dirty="0">
                <a:latin typeface="Times New Roman" panose="02020603050405020304" pitchFamily="18" charset="0"/>
                <a:cs typeface="Times New Roman" panose="02020603050405020304" pitchFamily="18" charset="0"/>
              </a:rPr>
              <a:t>Outcomes of the Project</a:t>
            </a:r>
          </a:p>
          <a:p>
            <a:pPr algn="just"/>
            <a:r>
              <a:rPr lang="en-US" sz="4000" dirty="0">
                <a:latin typeface="Times New Roman" panose="02020603050405020304" pitchFamily="18" charset="0"/>
                <a:cs typeface="Times New Roman" panose="02020603050405020304" pitchFamily="18" charset="0"/>
              </a:rPr>
              <a:t>Successfully implemented secure wireless LAN communication using TLS.</a:t>
            </a:r>
          </a:p>
          <a:p>
            <a:pPr algn="just"/>
            <a:r>
              <a:rPr lang="en-US" sz="4000" dirty="0">
                <a:latin typeface="Times New Roman" panose="02020603050405020304" pitchFamily="18" charset="0"/>
                <a:cs typeface="Times New Roman" panose="02020603050405020304" pitchFamily="18" charset="0"/>
              </a:rPr>
              <a:t>Data transmitted between wireless client and server was encrypted, ensuring confidentiality.</a:t>
            </a:r>
          </a:p>
          <a:p>
            <a:pPr algn="just"/>
            <a:r>
              <a:rPr lang="en-US" sz="4000" dirty="0">
                <a:latin typeface="Times New Roman" panose="02020603050405020304" pitchFamily="18" charset="0"/>
                <a:cs typeface="Times New Roman" panose="02020603050405020304" pitchFamily="18" charset="0"/>
              </a:rPr>
              <a:t>Server authentication using digital certificates prevented unauthorized access.</a:t>
            </a:r>
          </a:p>
          <a:p>
            <a:pPr algn="just"/>
            <a:r>
              <a:rPr lang="en-US" sz="4000" dirty="0">
                <a:latin typeface="Times New Roman" panose="02020603050405020304" pitchFamily="18" charset="0"/>
                <a:cs typeface="Times New Roman" panose="02020603050405020304" pitchFamily="18" charset="0"/>
              </a:rPr>
              <a:t>Secure communication was maintained even over an open or shared wireless medium.</a:t>
            </a:r>
          </a:p>
          <a:p>
            <a:pPr algn="just"/>
            <a:r>
              <a:rPr lang="en-US" sz="4000" dirty="0">
                <a:latin typeface="Times New Roman" panose="02020603050405020304" pitchFamily="18" charset="0"/>
                <a:cs typeface="Times New Roman" panose="02020603050405020304" pitchFamily="18" charset="0"/>
              </a:rPr>
              <a:t>TLS effectively protected data against eavesdropping and tampering attacks.</a:t>
            </a:r>
          </a:p>
          <a:p>
            <a:endParaRPr lang="en-IN" dirty="0"/>
          </a:p>
        </p:txBody>
      </p:sp>
      <p:sp>
        <p:nvSpPr>
          <p:cNvPr id="6" name="TextBox 5">
            <a:extLst>
              <a:ext uri="{FF2B5EF4-FFF2-40B4-BE49-F238E27FC236}">
                <a16:creationId xmlns:a16="http://schemas.microsoft.com/office/drawing/2014/main" id="{0BD56C2E-559D-B486-809F-F5208ADB48C9}"/>
              </a:ext>
            </a:extLst>
          </p:cNvPr>
          <p:cNvSpPr txBox="1"/>
          <p:nvPr/>
        </p:nvSpPr>
        <p:spPr>
          <a:xfrm>
            <a:off x="1317072" y="1077033"/>
            <a:ext cx="7852095" cy="523220"/>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                                         </a:t>
            </a:r>
            <a:r>
              <a:rPr lang="en-IN" sz="2800" b="1" dirty="0">
                <a:solidFill>
                  <a:srgbClr val="FF0000"/>
                </a:solidFill>
                <a:latin typeface="Times New Roman" panose="02020603050405020304" pitchFamily="18" charset="0"/>
                <a:cs typeface="Times New Roman" panose="02020603050405020304" pitchFamily="18" charset="0"/>
              </a:rPr>
              <a:t>Results &amp; Discussion</a:t>
            </a:r>
            <a:endParaRPr lang="en-IN" dirty="0">
              <a:solidFill>
                <a:srgbClr val="FF0000"/>
              </a:solidFill>
            </a:endParaRPr>
          </a:p>
        </p:txBody>
      </p:sp>
      <p:sp>
        <p:nvSpPr>
          <p:cNvPr id="11" name="TextBox 10">
            <a:extLst>
              <a:ext uri="{FF2B5EF4-FFF2-40B4-BE49-F238E27FC236}">
                <a16:creationId xmlns:a16="http://schemas.microsoft.com/office/drawing/2014/main" id="{4B4EDEE2-1586-945E-06BF-858BF863D140}"/>
              </a:ext>
            </a:extLst>
          </p:cNvPr>
          <p:cNvSpPr txBox="1"/>
          <p:nvPr/>
        </p:nvSpPr>
        <p:spPr>
          <a:xfrm rot="10800000" flipV="1">
            <a:off x="318781" y="5351927"/>
            <a:ext cx="6988030" cy="123110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Key Advantages</a:t>
            </a:r>
          </a:p>
          <a:p>
            <a:pPr algn="just">
              <a:buNone/>
            </a:pPr>
            <a:r>
              <a:rPr lang="en-US" dirty="0">
                <a:latin typeface="Times New Roman" panose="02020603050405020304" pitchFamily="18" charset="0"/>
                <a:cs typeface="Times New Roman" panose="02020603050405020304" pitchFamily="18" charset="0"/>
              </a:rPr>
              <a:t>Enhanced security with minimal performance overhead, providing encrypted communication, data integrity, and authentication without major changes to existing WLAN infrastructure. </a:t>
            </a:r>
          </a:p>
        </p:txBody>
      </p:sp>
      <p:graphicFrame>
        <p:nvGraphicFramePr>
          <p:cNvPr id="13" name="Table 12">
            <a:extLst>
              <a:ext uri="{FF2B5EF4-FFF2-40B4-BE49-F238E27FC236}">
                <a16:creationId xmlns:a16="http://schemas.microsoft.com/office/drawing/2014/main" id="{B185BE16-F198-8679-0C31-344C38608313}"/>
              </a:ext>
            </a:extLst>
          </p:cNvPr>
          <p:cNvGraphicFramePr>
            <a:graphicFrameLocks noGrp="1"/>
          </p:cNvGraphicFramePr>
          <p:nvPr>
            <p:extLst>
              <p:ext uri="{D42A27DB-BD31-4B8C-83A1-F6EECF244321}">
                <p14:modId xmlns:p14="http://schemas.microsoft.com/office/powerpoint/2010/main" val="306293374"/>
              </p:ext>
            </p:extLst>
          </p:nvPr>
        </p:nvGraphicFramePr>
        <p:xfrm>
          <a:off x="7558480" y="2046914"/>
          <a:ext cx="4423793" cy="4533978"/>
        </p:xfrm>
        <a:graphic>
          <a:graphicData uri="http://schemas.openxmlformats.org/drawingml/2006/table">
            <a:tbl>
              <a:tblPr/>
              <a:tblGrid>
                <a:gridCol w="1273733">
                  <a:extLst>
                    <a:ext uri="{9D8B030D-6E8A-4147-A177-3AD203B41FA5}">
                      <a16:colId xmlns:a16="http://schemas.microsoft.com/office/drawing/2014/main" val="2793488972"/>
                    </a:ext>
                  </a:extLst>
                </a:gridCol>
                <a:gridCol w="1575030">
                  <a:extLst>
                    <a:ext uri="{9D8B030D-6E8A-4147-A177-3AD203B41FA5}">
                      <a16:colId xmlns:a16="http://schemas.microsoft.com/office/drawing/2014/main" val="32961980"/>
                    </a:ext>
                  </a:extLst>
                </a:gridCol>
                <a:gridCol w="1575030">
                  <a:extLst>
                    <a:ext uri="{9D8B030D-6E8A-4147-A177-3AD203B41FA5}">
                      <a16:colId xmlns:a16="http://schemas.microsoft.com/office/drawing/2014/main" val="3083874273"/>
                    </a:ext>
                  </a:extLst>
                </a:gridCol>
              </a:tblGrid>
              <a:tr h="696714">
                <a:tc>
                  <a:txBody>
                    <a:bodyPr/>
                    <a:lstStyle/>
                    <a:p>
                      <a:pPr>
                        <a:buNone/>
                      </a:pPr>
                      <a:r>
                        <a:rPr lang="en-IN" sz="1400" dirty="0">
                          <a:latin typeface="Times New Roman" panose="02020603050405020304" pitchFamily="18" charset="0"/>
                          <a:cs typeface="Times New Roman" panose="02020603050405020304" pitchFamily="18"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Normal Wireless 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TLS-Enabled Wireless LAN (Our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2662247"/>
                  </a:ext>
                </a:extLst>
              </a:tr>
              <a:tr h="580779">
                <a:tc>
                  <a:txBody>
                    <a:bodyPr/>
                    <a:lstStyle/>
                    <a:p>
                      <a:pPr>
                        <a:buNone/>
                      </a:pPr>
                      <a:r>
                        <a:rPr lang="en-IN" sz="1400" dirty="0">
                          <a:latin typeface="Times New Roman" panose="02020603050405020304" pitchFamily="18" charset="0"/>
                          <a:cs typeface="Times New Roman" panose="02020603050405020304" pitchFamily="18" charset="0"/>
                        </a:rPr>
                        <a:t>Data Security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Plain text transmission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Fully encrypted transmission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3116421"/>
                  </a:ext>
                </a:extLst>
              </a:tr>
              <a:tr h="938716">
                <a:tc>
                  <a:txBody>
                    <a:bodyPr/>
                    <a:lstStyle/>
                    <a:p>
                      <a:pPr>
                        <a:buNone/>
                      </a:pPr>
                      <a:r>
                        <a:rPr lang="en-IN" sz="1400" dirty="0">
                          <a:latin typeface="Times New Roman" panose="02020603050405020304" pitchFamily="18" charset="0"/>
                          <a:cs typeface="Times New Roman" panose="02020603050405020304" pitchFamily="18" charset="0"/>
                        </a:rPr>
                        <a:t>Authentication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Basic (SSID/password)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Strong server authentication using certificates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0220481"/>
                  </a:ext>
                </a:extLst>
              </a:tr>
              <a:tr h="696714">
                <a:tc>
                  <a:txBody>
                    <a:bodyPr/>
                    <a:lstStyle/>
                    <a:p>
                      <a:pPr>
                        <a:buNone/>
                      </a:pPr>
                      <a:r>
                        <a:rPr lang="en-IN" sz="1400">
                          <a:latin typeface="Times New Roman" panose="02020603050405020304" pitchFamily="18" charset="0"/>
                          <a:cs typeface="Times New Roman" panose="02020603050405020304" pitchFamily="18" charset="0"/>
                        </a:rPr>
                        <a:t>Data Integrity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No integrity check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Ensures data integrity using hashing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9800436"/>
                  </a:ext>
                </a:extLst>
              </a:tr>
              <a:tr h="819923">
                <a:tc>
                  <a:txBody>
                    <a:bodyPr/>
                    <a:lstStyle/>
                    <a:p>
                      <a:pPr>
                        <a:buNone/>
                      </a:pPr>
                      <a:r>
                        <a:rPr lang="en-IN" sz="1400">
                          <a:latin typeface="Times New Roman" panose="02020603050405020304" pitchFamily="18" charset="0"/>
                          <a:cs typeface="Times New Roman" panose="02020603050405020304" pitchFamily="18" charset="0"/>
                        </a:rPr>
                        <a:t>Attack Resistance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Vulnerable to sniffing &amp; MITM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Protected against eavesdropping &amp; MITM attacks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1867867"/>
                  </a:ext>
                </a:extLst>
              </a:tr>
              <a:tr h="696714">
                <a:tc>
                  <a:txBody>
                    <a:bodyPr/>
                    <a:lstStyle/>
                    <a:p>
                      <a:pPr>
                        <a:buNone/>
                      </a:pPr>
                      <a:r>
                        <a:rPr lang="en-IN" sz="1400" dirty="0">
                          <a:latin typeface="Times New Roman" panose="02020603050405020304" pitchFamily="18" charset="0"/>
                          <a:cs typeface="Times New Roman" panose="02020603050405020304" pitchFamily="18" charset="0"/>
                        </a:rPr>
                        <a:t>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Limited security 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Easily scalable with TLS certificates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7307547"/>
                  </a:ext>
                </a:extLst>
              </a:tr>
            </a:tbl>
          </a:graphicData>
        </a:graphic>
      </p:graphicFrame>
    </p:spTree>
    <p:extLst>
      <p:ext uri="{BB962C8B-B14F-4D97-AF65-F5344CB8AC3E}">
        <p14:creationId xmlns:p14="http://schemas.microsoft.com/office/powerpoint/2010/main" val="1017865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C594C-E03E-9CF1-199C-B19C29F0E932}"/>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B005DDDE-1B20-9570-C02C-9B89966CB53D}"/>
              </a:ext>
            </a:extLst>
          </p:cNvPr>
          <p:cNvSpPr/>
          <p:nvPr/>
        </p:nvSpPr>
        <p:spPr>
          <a:xfrm>
            <a:off x="5612234" y="2206305"/>
            <a:ext cx="5989739" cy="381899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68792AB4-D711-D870-E244-2F046AE5E4E3}"/>
              </a:ext>
            </a:extLst>
          </p:cNvPr>
          <p:cNvSpPr/>
          <p:nvPr/>
        </p:nvSpPr>
        <p:spPr>
          <a:xfrm>
            <a:off x="134224" y="2206305"/>
            <a:ext cx="5234729" cy="381899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id="{60ECF6B5-9963-62CE-A369-EFB5C235F6DB}"/>
              </a:ext>
            </a:extLst>
          </p:cNvPr>
          <p:cNvSpPr>
            <a:spLocks noGrp="1"/>
          </p:cNvSpPr>
          <p:nvPr>
            <p:ph type="title"/>
          </p:nvPr>
        </p:nvSpPr>
        <p:spPr>
          <a:xfrm>
            <a:off x="880844" y="1493239"/>
            <a:ext cx="10472956" cy="511729"/>
          </a:xfrm>
        </p:spPr>
        <p:txBody>
          <a:bodyPr>
            <a:normAutofit fontScale="90000"/>
          </a:bodyPr>
          <a:lstStyle/>
          <a:p>
            <a:r>
              <a:rPr lang="en-US" dirty="0"/>
              <a:t>                               </a:t>
            </a:r>
            <a:r>
              <a:rPr lang="en-US" dirty="0">
                <a:solidFill>
                  <a:srgbClr val="FF0000"/>
                </a:solidFill>
                <a:latin typeface="Times New Roman" panose="02020603050405020304" pitchFamily="18" charset="0"/>
                <a:cs typeface="Times New Roman" panose="02020603050405020304" pitchFamily="18" charset="0"/>
              </a:rPr>
              <a:t>Future scope</a:t>
            </a:r>
            <a:endParaRPr lang="en-IN" dirty="0">
              <a:solidFill>
                <a:srgbClr val="FF0000"/>
              </a:solidFill>
              <a:latin typeface="Times New Roman" panose="02020603050405020304" pitchFamily="18" charset="0"/>
              <a:cs typeface="Times New Roman" panose="02020603050405020304" pitchFamily="18" charset="0"/>
            </a:endParaRPr>
          </a:p>
        </p:txBody>
      </p:sp>
      <p:pic>
        <p:nvPicPr>
          <p:cNvPr id="9" name="Google Shape;84;p1" descr="SSE-Computer Science and Engineering">
            <a:extLst>
              <a:ext uri="{FF2B5EF4-FFF2-40B4-BE49-F238E27FC236}">
                <a16:creationId xmlns:a16="http://schemas.microsoft.com/office/drawing/2014/main" id="{042B0414-66C5-B943-1E71-C09A3ABDFC3E}"/>
              </a:ext>
            </a:extLst>
          </p:cNvPr>
          <p:cNvPicPr preferRelativeResize="0"/>
          <p:nvPr/>
        </p:nvPicPr>
        <p:blipFill rotWithShape="1">
          <a:blip r:embed="rId2">
            <a:alphaModFix/>
          </a:blip>
          <a:srcRect/>
          <a:stretch/>
        </p:blipFill>
        <p:spPr>
          <a:xfrm>
            <a:off x="1524000" y="196738"/>
            <a:ext cx="9144000" cy="905870"/>
          </a:xfrm>
          <a:prstGeom prst="rect">
            <a:avLst/>
          </a:prstGeom>
          <a:noFill/>
          <a:ln>
            <a:noFill/>
          </a:ln>
        </p:spPr>
      </p:pic>
      <p:sp>
        <p:nvSpPr>
          <p:cNvPr id="12" name="TextBox 11">
            <a:extLst>
              <a:ext uri="{FF2B5EF4-FFF2-40B4-BE49-F238E27FC236}">
                <a16:creationId xmlns:a16="http://schemas.microsoft.com/office/drawing/2014/main" id="{021BE7A9-7517-2D57-3EB7-E802AAFEEC87}"/>
              </a:ext>
            </a:extLst>
          </p:cNvPr>
          <p:cNvSpPr txBox="1"/>
          <p:nvPr/>
        </p:nvSpPr>
        <p:spPr>
          <a:xfrm>
            <a:off x="285226" y="2395599"/>
            <a:ext cx="5083728" cy="3416320"/>
          </a:xfrm>
          <a:prstGeom prst="rect">
            <a:avLst/>
          </a:prstGeom>
          <a:noFill/>
        </p:spPr>
        <p:txBody>
          <a:bodyPr wrap="square">
            <a:spAutoFit/>
          </a:bodyPr>
          <a:lstStyle/>
          <a:p>
            <a:pPr>
              <a:buNone/>
            </a:pPr>
            <a:r>
              <a:rPr lang="en-IN" b="1" dirty="0"/>
              <a:t>           </a:t>
            </a:r>
            <a:r>
              <a:rPr lang="en-IN" b="1" dirty="0">
                <a:latin typeface="Times New Roman" panose="02020603050405020304" pitchFamily="18" charset="0"/>
                <a:cs typeface="Times New Roman" panose="02020603050405020304" pitchFamily="18" charset="0"/>
              </a:rPr>
              <a:t>Enhancements / Improvements</a:t>
            </a:r>
          </a:p>
          <a:p>
            <a:pPr>
              <a:buNone/>
            </a:pPr>
            <a:endParaRPr lang="en-IN"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Upgrade implementation to TLS 1.3 for faster handshake and improved security.</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Integrate automated certificate management (ACME, auto-renewal) to reduce manual effort.</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 mutual TLS (</a:t>
            </a:r>
            <a:r>
              <a:rPr lang="en-IN" dirty="0" err="1">
                <a:latin typeface="Times New Roman" panose="02020603050405020304" pitchFamily="18" charset="0"/>
                <a:cs typeface="Times New Roman" panose="02020603050405020304" pitchFamily="18" charset="0"/>
              </a:rPr>
              <a:t>mTLS</a:t>
            </a:r>
            <a:r>
              <a:rPr lang="en-IN" dirty="0">
                <a:latin typeface="Times New Roman" panose="02020603050405020304" pitchFamily="18" charset="0"/>
                <a:cs typeface="Times New Roman" panose="02020603050405020304" pitchFamily="18" charset="0"/>
              </a:rPr>
              <a:t>) for stronger client and server authentication.</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 performance monitoring tools 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encryption overhead and latency.</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Enhance wireless security by combining TLS with WPA3-Enterprise</a:t>
            </a:r>
            <a:r>
              <a:rPr lang="en-IN" dirty="0"/>
              <a:t>.</a:t>
            </a:r>
          </a:p>
        </p:txBody>
      </p:sp>
      <p:sp>
        <p:nvSpPr>
          <p:cNvPr id="14" name="TextBox 13">
            <a:extLst>
              <a:ext uri="{FF2B5EF4-FFF2-40B4-BE49-F238E27FC236}">
                <a16:creationId xmlns:a16="http://schemas.microsoft.com/office/drawing/2014/main" id="{1EDED8BC-16A5-828B-723D-E86CA53F3D75}"/>
              </a:ext>
            </a:extLst>
          </p:cNvPr>
          <p:cNvSpPr txBox="1"/>
          <p:nvPr/>
        </p:nvSpPr>
        <p:spPr>
          <a:xfrm>
            <a:off x="5863905" y="2395599"/>
            <a:ext cx="5234729" cy="3416320"/>
          </a:xfrm>
          <a:prstGeom prst="rect">
            <a:avLst/>
          </a:prstGeom>
          <a:noFill/>
        </p:spPr>
        <p:txBody>
          <a:bodyPr wrap="square">
            <a:spAutoFit/>
          </a:bodyPr>
          <a:lstStyle/>
          <a:p>
            <a:pPr>
              <a:buNone/>
            </a:pPr>
            <a:r>
              <a:rPr lang="en-US" b="1" dirty="0"/>
              <a:t>         </a:t>
            </a:r>
            <a:r>
              <a:rPr lang="en-US" b="1" dirty="0">
                <a:latin typeface="Times New Roman" panose="02020603050405020304" pitchFamily="18" charset="0"/>
                <a:cs typeface="Times New Roman" panose="02020603050405020304" pitchFamily="18" charset="0"/>
              </a:rPr>
              <a:t>How the Project Can Be Extended Further</a:t>
            </a:r>
          </a:p>
          <a:p>
            <a:pPr>
              <a:buNone/>
            </a:pPr>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Extend the setup to a large-scale enterprise WLAN with multiple access points.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 IDS/IPS systems to detect attacks on encrypted traffic patterns.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Apply TLS security to IoT devices connected over wireless networks.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Combine TLS with VPN and Zero Trust Architecture (ZTA) for layered security.</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 real-time logging and analytics for long-term security auditing and compliance.</a:t>
            </a:r>
          </a:p>
        </p:txBody>
      </p:sp>
    </p:spTree>
    <p:extLst>
      <p:ext uri="{BB962C8B-B14F-4D97-AF65-F5344CB8AC3E}">
        <p14:creationId xmlns:p14="http://schemas.microsoft.com/office/powerpoint/2010/main" val="2041926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B1495-5120-CA59-FDDB-C38BDD09EC6A}"/>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CF7D85EB-8B01-6AA3-52A6-F0F74AEBCE89}"/>
              </a:ext>
            </a:extLst>
          </p:cNvPr>
          <p:cNvSpPr/>
          <p:nvPr/>
        </p:nvSpPr>
        <p:spPr>
          <a:xfrm>
            <a:off x="6409189" y="2432659"/>
            <a:ext cx="5430474" cy="3859083"/>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504602FB-F779-8E75-A49A-E4206D5E7A00}"/>
              </a:ext>
            </a:extLst>
          </p:cNvPr>
          <p:cNvSpPr/>
          <p:nvPr/>
        </p:nvSpPr>
        <p:spPr>
          <a:xfrm>
            <a:off x="226503" y="2432660"/>
            <a:ext cx="5629013" cy="3859083"/>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E8B7DE6-8AE5-FDC7-3494-2E8672CDB58E}"/>
              </a:ext>
            </a:extLst>
          </p:cNvPr>
          <p:cNvSpPr>
            <a:spLocks noGrp="1"/>
          </p:cNvSpPr>
          <p:nvPr>
            <p:ph type="title"/>
          </p:nvPr>
        </p:nvSpPr>
        <p:spPr>
          <a:xfrm>
            <a:off x="3317810" y="1255866"/>
            <a:ext cx="4861456" cy="1176794"/>
          </a:xfrm>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rPr>
              <a:t>Challenges &amp; Limitations</a:t>
            </a:r>
          </a:p>
        </p:txBody>
      </p:sp>
      <p:pic>
        <p:nvPicPr>
          <p:cNvPr id="4" name="Google Shape;84;p1" descr="SSE-Computer Science and Engineering">
            <a:extLst>
              <a:ext uri="{FF2B5EF4-FFF2-40B4-BE49-F238E27FC236}">
                <a16:creationId xmlns:a16="http://schemas.microsoft.com/office/drawing/2014/main" id="{89293178-DEBB-188C-06DD-83E10ACD2390}"/>
              </a:ext>
            </a:extLst>
          </p:cNvPr>
          <p:cNvPicPr preferRelativeResize="0"/>
          <p:nvPr/>
        </p:nvPicPr>
        <p:blipFill rotWithShape="1">
          <a:blip r:embed="rId2">
            <a:alphaModFix/>
          </a:blip>
          <a:srcRect/>
          <a:stretch/>
        </p:blipFill>
        <p:spPr>
          <a:xfrm>
            <a:off x="1524000" y="255271"/>
            <a:ext cx="9144000" cy="905870"/>
          </a:xfrm>
          <a:prstGeom prst="rect">
            <a:avLst/>
          </a:prstGeom>
          <a:noFill/>
          <a:ln>
            <a:noFill/>
          </a:ln>
        </p:spPr>
      </p:pic>
      <p:sp>
        <p:nvSpPr>
          <p:cNvPr id="6" name="TextBox 5">
            <a:extLst>
              <a:ext uri="{FF2B5EF4-FFF2-40B4-BE49-F238E27FC236}">
                <a16:creationId xmlns:a16="http://schemas.microsoft.com/office/drawing/2014/main" id="{9A650D59-3FD9-4E11-A854-58D8C740E31D}"/>
              </a:ext>
            </a:extLst>
          </p:cNvPr>
          <p:cNvSpPr txBox="1"/>
          <p:nvPr/>
        </p:nvSpPr>
        <p:spPr>
          <a:xfrm>
            <a:off x="352337" y="2617365"/>
            <a:ext cx="5444455" cy="3416320"/>
          </a:xfrm>
          <a:prstGeom prst="rect">
            <a:avLst/>
          </a:prstGeom>
          <a:noFill/>
        </p:spPr>
        <p:txBody>
          <a:bodyPr wrap="square">
            <a:spAutoFit/>
          </a:bodyPr>
          <a:lstStyle/>
          <a:p>
            <a:pPr>
              <a:buNone/>
            </a:pPr>
            <a:r>
              <a:rPr lang="en-US" b="1" dirty="0"/>
              <a:t>                       </a:t>
            </a:r>
            <a:r>
              <a:rPr lang="en-US" b="1" dirty="0">
                <a:latin typeface="Times New Roman" panose="02020603050405020304" pitchFamily="18" charset="0"/>
                <a:cs typeface="Times New Roman" panose="02020603050405020304" pitchFamily="18" charset="0"/>
              </a:rPr>
              <a:t>Issues Faced During Development</a:t>
            </a:r>
          </a:p>
          <a:p>
            <a:pPr>
              <a:buNone/>
            </a:pPr>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Configuring TLS certificates and enabling HTTPS on the server required careful setup and validation.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Certificate trust issues occurred when clients did not recognize self-signed certificates.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Wireless packet capture limitations made it difficult to visibly observe encrypted payloads in simulation tools.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TLS handshake introduced initial connection delay due to key exchange and encryption processes.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Compatibility issues were faced with older clients or browsers that do not fully support modern TLS versions.</a:t>
            </a:r>
          </a:p>
        </p:txBody>
      </p:sp>
      <p:sp>
        <p:nvSpPr>
          <p:cNvPr id="9" name="TextBox 8">
            <a:extLst>
              <a:ext uri="{FF2B5EF4-FFF2-40B4-BE49-F238E27FC236}">
                <a16:creationId xmlns:a16="http://schemas.microsoft.com/office/drawing/2014/main" id="{A147BFEE-B14D-0965-FE64-DE3CE6C0CF39}"/>
              </a:ext>
            </a:extLst>
          </p:cNvPr>
          <p:cNvSpPr txBox="1"/>
          <p:nvPr/>
        </p:nvSpPr>
        <p:spPr>
          <a:xfrm>
            <a:off x="6493079" y="2527384"/>
            <a:ext cx="5209563" cy="3416320"/>
          </a:xfrm>
          <a:prstGeom prst="rect">
            <a:avLst/>
          </a:prstGeom>
          <a:noFill/>
        </p:spPr>
        <p:txBody>
          <a:bodyPr wrap="square">
            <a:spAutoFit/>
          </a:bodyPr>
          <a:lstStyle/>
          <a:p>
            <a:pPr>
              <a:buNone/>
            </a:pPr>
            <a:r>
              <a:rPr lang="en-US" b="1" dirty="0"/>
              <a:t>                          </a:t>
            </a:r>
            <a:r>
              <a:rPr lang="en-US" b="1" dirty="0">
                <a:latin typeface="Times New Roman" panose="02020603050405020304" pitchFamily="18" charset="0"/>
                <a:cs typeface="Times New Roman" panose="02020603050405020304" pitchFamily="18" charset="0"/>
              </a:rPr>
              <a:t>Possible Constraints</a:t>
            </a:r>
          </a:p>
          <a:p>
            <a:pPr>
              <a:buNone/>
            </a:pPr>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Performance overhead due to encryption and decryption, especially on low-end devices.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Certificate management complexity, including renewal and revocation.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Limited visibility into encrypted traffic complicates network monitoring and debugging.</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Dependence on proper time synchronization for certificate validation.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Simulation-based implementation does not fully reflect real-world wireless interference and attacks.</a:t>
            </a:r>
          </a:p>
        </p:txBody>
      </p:sp>
    </p:spTree>
    <p:extLst>
      <p:ext uri="{BB962C8B-B14F-4D97-AF65-F5344CB8AC3E}">
        <p14:creationId xmlns:p14="http://schemas.microsoft.com/office/powerpoint/2010/main" val="3902282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6A4471-5012-29A6-4024-C9667FD97711}"/>
              </a:ext>
            </a:extLst>
          </p:cNvPr>
          <p:cNvSpPr/>
          <p:nvPr/>
        </p:nvSpPr>
        <p:spPr>
          <a:xfrm>
            <a:off x="260059" y="1803633"/>
            <a:ext cx="6467912" cy="482367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1A5D14AA-900D-4EAC-AD09-D7A2CAA433BF}"/>
              </a:ext>
            </a:extLst>
          </p:cNvPr>
          <p:cNvSpPr/>
          <p:nvPr/>
        </p:nvSpPr>
        <p:spPr>
          <a:xfrm>
            <a:off x="6996418" y="1623576"/>
            <a:ext cx="4935523" cy="5234423"/>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4C91E2A-300F-56CA-F61C-0F0CE2C5CB7E}"/>
              </a:ext>
            </a:extLst>
          </p:cNvPr>
          <p:cNvSpPr>
            <a:spLocks noGrp="1"/>
          </p:cNvSpPr>
          <p:nvPr>
            <p:ph type="title"/>
          </p:nvPr>
        </p:nvSpPr>
        <p:spPr>
          <a:xfrm>
            <a:off x="1106647" y="1434517"/>
            <a:ext cx="10515600" cy="189059"/>
          </a:xfrm>
        </p:spPr>
        <p:txBody>
          <a:bodyPr>
            <a:normAutofit fontScale="90000"/>
          </a:bodyPr>
          <a:lstStyle/>
          <a:p>
            <a:r>
              <a:rPr lang="en-IN" b="1" dirty="0">
                <a:latin typeface="Times New Roman" panose="02020603050405020304" pitchFamily="18" charset="0"/>
                <a:cs typeface="Times New Roman" panose="02020603050405020304" pitchFamily="18" charset="0"/>
              </a:rPr>
              <a:t>                        </a:t>
            </a:r>
            <a:r>
              <a:rPr lang="en-IN" b="1" dirty="0">
                <a:solidFill>
                  <a:srgbClr val="FF0000"/>
                </a:solidFill>
                <a:latin typeface="Times New Roman" panose="02020603050405020304" pitchFamily="18" charset="0"/>
                <a:cs typeface="Times New Roman" panose="02020603050405020304" pitchFamily="18" charset="0"/>
              </a:rPr>
              <a:t>Conclusion</a:t>
            </a:r>
            <a:endParaRPr lang="en-IN" dirty="0">
              <a:solidFill>
                <a:srgbClr val="FF0000"/>
              </a:solidFill>
            </a:endParaRPr>
          </a:p>
        </p:txBody>
      </p:sp>
      <p:sp>
        <p:nvSpPr>
          <p:cNvPr id="3" name="Content Placeholder 2">
            <a:extLst>
              <a:ext uri="{FF2B5EF4-FFF2-40B4-BE49-F238E27FC236}">
                <a16:creationId xmlns:a16="http://schemas.microsoft.com/office/drawing/2014/main" id="{D2DA872E-E0E4-070B-C578-E4F70C1FC886}"/>
              </a:ext>
            </a:extLst>
          </p:cNvPr>
          <p:cNvSpPr>
            <a:spLocks noGrp="1"/>
          </p:cNvSpPr>
          <p:nvPr>
            <p:ph idx="1"/>
          </p:nvPr>
        </p:nvSpPr>
        <p:spPr>
          <a:xfrm>
            <a:off x="251670" y="1825625"/>
            <a:ext cx="6451134" cy="4776511"/>
          </a:xfrm>
        </p:spPr>
        <p:txBody>
          <a:bodyPr>
            <a:normAutofit fontScale="70000" lnSpcReduction="20000"/>
          </a:bodyPr>
          <a:lstStyle/>
          <a:p>
            <a:pPr marL="0" indent="0">
              <a:buNone/>
            </a:pPr>
            <a:r>
              <a:rPr lang="en-US" sz="3400" b="1" dirty="0">
                <a:latin typeface="Times New Roman" panose="02020603050405020304" pitchFamily="18" charset="0"/>
                <a:cs typeface="Times New Roman" panose="02020603050405020304" pitchFamily="18" charset="0"/>
              </a:rPr>
              <a:t>Conclusion :</a:t>
            </a:r>
          </a:p>
          <a:p>
            <a:pPr marL="0" indent="0" algn="just">
              <a:lnSpc>
                <a:spcPct val="120000"/>
              </a:lnSpc>
              <a:buNone/>
            </a:pPr>
            <a:r>
              <a:rPr lang="en-US" dirty="0">
                <a:latin typeface="Times New Roman" panose="02020603050405020304" pitchFamily="18" charset="0"/>
                <a:cs typeface="Times New Roman" panose="02020603050405020304" pitchFamily="18" charset="0"/>
              </a:rPr>
              <a:t>The project demonstrates that secure data communication in Wireless LANs can be effectively achieved using Transport Layer Security (TLS) without requiring complex or expensive infrastructure. By implementing TLS over a wireless network, the system ensures data confidentiality, integrity, and authentication between communicating devices. The use of encryption, certificate-based authentication, and secure session establishment protects data from common WLAN threats such as eavesdropping, man-in-the-middle attacks, and packet tampering. This implementation provides a strong practical foundation for understanding secure wireless communication in real-world network environments.</a:t>
            </a:r>
          </a:p>
          <a:p>
            <a:endParaRPr lang="en-IN" dirty="0"/>
          </a:p>
        </p:txBody>
      </p:sp>
      <p:pic>
        <p:nvPicPr>
          <p:cNvPr id="4" name="Google Shape;84;p1" descr="SSE-Computer Science and Engineering">
            <a:extLst>
              <a:ext uri="{FF2B5EF4-FFF2-40B4-BE49-F238E27FC236}">
                <a16:creationId xmlns:a16="http://schemas.microsoft.com/office/drawing/2014/main" id="{F4B3683E-98B3-1573-9BE4-3B8B1D342324}"/>
              </a:ext>
            </a:extLst>
          </p:cNvPr>
          <p:cNvPicPr preferRelativeResize="0"/>
          <p:nvPr/>
        </p:nvPicPr>
        <p:blipFill rotWithShape="1">
          <a:blip r:embed="rId2">
            <a:alphaModFix/>
          </a:blip>
          <a:srcRect/>
          <a:stretch/>
        </p:blipFill>
        <p:spPr>
          <a:xfrm>
            <a:off x="1241571" y="75501"/>
            <a:ext cx="9426429" cy="956345"/>
          </a:xfrm>
          <a:prstGeom prst="rect">
            <a:avLst/>
          </a:prstGeom>
          <a:noFill/>
          <a:ln>
            <a:noFill/>
          </a:ln>
        </p:spPr>
      </p:pic>
      <p:sp>
        <p:nvSpPr>
          <p:cNvPr id="6" name="TextBox 5">
            <a:extLst>
              <a:ext uri="{FF2B5EF4-FFF2-40B4-BE49-F238E27FC236}">
                <a16:creationId xmlns:a16="http://schemas.microsoft.com/office/drawing/2014/main" id="{C60BEA8D-BA32-07C4-53D3-6A0ADBA7477D}"/>
              </a:ext>
            </a:extLst>
          </p:cNvPr>
          <p:cNvSpPr txBox="1"/>
          <p:nvPr/>
        </p:nvSpPr>
        <p:spPr>
          <a:xfrm>
            <a:off x="6996418" y="1623576"/>
            <a:ext cx="4943914" cy="5280363"/>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Key Takeaways:</a:t>
            </a: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Secure WLAN Communication</a:t>
            </a:r>
            <a:r>
              <a:rPr lang="en-US" dirty="0">
                <a:latin typeface="Times New Roman" panose="02020603050405020304" pitchFamily="18" charset="0"/>
                <a:cs typeface="Times New Roman" panose="02020603050405020304" pitchFamily="18" charset="0"/>
              </a:rPr>
              <a:t> – TLS enables secure end-to-end communication over wireless networks by encrypting transmitted data.</a:t>
            </a:r>
          </a:p>
          <a:p>
            <a:pPr>
              <a:buNone/>
            </a:pPr>
            <a:r>
              <a:rPr lang="en-US" b="1" dirty="0">
                <a:latin typeface="Times New Roman" panose="02020603050405020304" pitchFamily="18" charset="0"/>
                <a:cs typeface="Times New Roman" panose="02020603050405020304" pitchFamily="18" charset="0"/>
              </a:rPr>
              <a:t>Data Confidentiality &amp; Integrity</a:t>
            </a:r>
            <a:r>
              <a:rPr lang="en-US" dirty="0">
                <a:latin typeface="Times New Roman" panose="02020603050405020304" pitchFamily="18" charset="0"/>
                <a:cs typeface="Times New Roman" panose="02020603050405020304" pitchFamily="18" charset="0"/>
              </a:rPr>
              <a:t> – Encryption and message authentication codes ensure that data is protected from unauthorized access and modification.</a:t>
            </a:r>
          </a:p>
          <a:p>
            <a:pPr>
              <a:buNone/>
            </a:pPr>
            <a:r>
              <a:rPr lang="en-US" b="1" dirty="0">
                <a:latin typeface="Times New Roman" panose="02020603050405020304" pitchFamily="18" charset="0"/>
                <a:cs typeface="Times New Roman" panose="02020603050405020304" pitchFamily="18" charset="0"/>
              </a:rPr>
              <a:t>Authentication Mechanism</a:t>
            </a:r>
            <a:r>
              <a:rPr lang="en-US" dirty="0">
                <a:latin typeface="Times New Roman" panose="02020603050405020304" pitchFamily="18" charset="0"/>
                <a:cs typeface="Times New Roman" panose="02020603050405020304" pitchFamily="18" charset="0"/>
              </a:rPr>
              <a:t> – Digital certificates verify the identity of clients and servers, preventing impersonation attacks.</a:t>
            </a:r>
          </a:p>
          <a:p>
            <a:pPr>
              <a:buNone/>
            </a:pPr>
            <a:r>
              <a:rPr lang="en-US" b="1" dirty="0">
                <a:latin typeface="Times New Roman" panose="02020603050405020304" pitchFamily="18" charset="0"/>
                <a:cs typeface="Times New Roman" panose="02020603050405020304" pitchFamily="18" charset="0"/>
              </a:rPr>
              <a:t>Practical Security Implementation</a:t>
            </a:r>
            <a:r>
              <a:rPr lang="en-US" dirty="0">
                <a:latin typeface="Times New Roman" panose="02020603050405020304" pitchFamily="18" charset="0"/>
                <a:cs typeface="Times New Roman" panose="02020603050405020304" pitchFamily="18" charset="0"/>
              </a:rPr>
              <a:t> – Demonstrates real-time use of TLS in WLANs using standard networking tools and protocols.</a:t>
            </a:r>
          </a:p>
          <a:p>
            <a:pPr>
              <a:buNone/>
            </a:pPr>
            <a:r>
              <a:rPr lang="en-US" b="1" dirty="0">
                <a:latin typeface="Times New Roman" panose="02020603050405020304" pitchFamily="18" charset="0"/>
                <a:cs typeface="Times New Roman" panose="02020603050405020304" pitchFamily="18" charset="0"/>
              </a:rPr>
              <a:t>Scalability &amp; Applicability</a:t>
            </a:r>
            <a:r>
              <a:rPr lang="en-US" dirty="0">
                <a:latin typeface="Times New Roman" panose="02020603050405020304" pitchFamily="18" charset="0"/>
                <a:cs typeface="Times New Roman" panose="02020603050405020304" pitchFamily="18" charset="0"/>
              </a:rPr>
              <a:t> – The approach can be extended to enterprise Wi-Fi networks, public hotspots, and IoT wireless systems.</a:t>
            </a:r>
          </a:p>
        </p:txBody>
      </p:sp>
    </p:spTree>
    <p:extLst>
      <p:ext uri="{BB962C8B-B14F-4D97-AF65-F5344CB8AC3E}">
        <p14:creationId xmlns:p14="http://schemas.microsoft.com/office/powerpoint/2010/main" val="1557072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01A75-F93D-8F7D-85DF-E7A2C24E6AC9}"/>
              </a:ext>
            </a:extLst>
          </p:cNvPr>
          <p:cNvSpPr>
            <a:spLocks noGrp="1"/>
          </p:cNvSpPr>
          <p:nvPr>
            <p:ph type="title"/>
          </p:nvPr>
        </p:nvSpPr>
        <p:spPr>
          <a:xfrm>
            <a:off x="721250" y="1161141"/>
            <a:ext cx="10632549" cy="1287861"/>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REFERENCES:</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DE9D5E79-4856-938D-6316-D5D65EECC4A2}"/>
              </a:ext>
            </a:extLst>
          </p:cNvPr>
          <p:cNvSpPr txBox="1">
            <a:spLocks noGrp="1"/>
          </p:cNvSpPr>
          <p:nvPr>
            <p:ph idx="1"/>
          </p:nvPr>
        </p:nvSpPr>
        <p:spPr>
          <a:xfrm>
            <a:off x="838201" y="2172749"/>
            <a:ext cx="10405937" cy="420628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Zhang, P., Yang, Y., Zheng, Y. and Sun, Y., 2025. Multiplexed Internet of Things Data Transmission and Visualization Utilizing Wireless LAN Authentication and Privacy Infrastructure Protocol in Smart Factories. </a:t>
            </a:r>
            <a:r>
              <a:rPr lang="en-IN" sz="2000" i="1" dirty="0">
                <a:latin typeface="Times New Roman" panose="02020603050405020304" pitchFamily="18" charset="0"/>
                <a:cs typeface="Times New Roman" panose="02020603050405020304" pitchFamily="18" charset="0"/>
              </a:rPr>
              <a:t>Sensors</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25</a:t>
            </a:r>
            <a:r>
              <a:rPr lang="en-IN" sz="2000" dirty="0">
                <a:latin typeface="Times New Roman" panose="02020603050405020304" pitchFamily="18" charset="0"/>
                <a:cs typeface="Times New Roman" panose="02020603050405020304" pitchFamily="18" charset="0"/>
              </a:rPr>
              <a:t>(10), p.3134.</a:t>
            </a:r>
          </a:p>
          <a:p>
            <a:r>
              <a:rPr lang="en-US" sz="2000" dirty="0">
                <a:latin typeface="Times New Roman" panose="02020603050405020304" pitchFamily="18" charset="0"/>
                <a:cs typeface="Times New Roman" panose="02020603050405020304" pitchFamily="18" charset="0"/>
              </a:rPr>
              <a:t>Nafees, M. and Kumar, A., 2025. Physical layer security in ambient backscatter communication: A review. </a:t>
            </a:r>
            <a:r>
              <a:rPr lang="en-US" sz="2000" i="1" dirty="0">
                <a:latin typeface="Times New Roman" panose="02020603050405020304" pitchFamily="18" charset="0"/>
                <a:cs typeface="Times New Roman" panose="02020603050405020304" pitchFamily="18" charset="0"/>
              </a:rPr>
              <a:t>Emerging Trends in Computer Science and Its Application</a:t>
            </a:r>
            <a:r>
              <a:rPr lang="en-US" sz="2000" dirty="0">
                <a:latin typeface="Times New Roman" panose="02020603050405020304" pitchFamily="18" charset="0"/>
                <a:cs typeface="Times New Roman" panose="02020603050405020304" pitchFamily="18" charset="0"/>
              </a:rPr>
              <a:t>, pp.18-25.</a:t>
            </a:r>
          </a:p>
          <a:p>
            <a:r>
              <a:rPr lang="en-IN" sz="2000" dirty="0">
                <a:latin typeface="Times New Roman" panose="02020603050405020304" pitchFamily="18" charset="0"/>
                <a:cs typeface="Times New Roman" panose="02020603050405020304" pitchFamily="18" charset="0"/>
              </a:rPr>
              <a:t>Ferst, M.K., </a:t>
            </a:r>
            <a:r>
              <a:rPr lang="en-IN" sz="2000" dirty="0" err="1">
                <a:latin typeface="Times New Roman" panose="02020603050405020304" pitchFamily="18" charset="0"/>
                <a:cs typeface="Times New Roman" panose="02020603050405020304" pitchFamily="18" charset="0"/>
              </a:rPr>
              <a:t>Denardin</a:t>
            </a:r>
            <a:r>
              <a:rPr lang="en-IN" sz="2000" dirty="0">
                <a:latin typeface="Times New Roman" panose="02020603050405020304" pitchFamily="18" charset="0"/>
                <a:cs typeface="Times New Roman" panose="02020603050405020304" pitchFamily="18" charset="0"/>
              </a:rPr>
              <a:t>, G.W., Stein, C.M.O., </a:t>
            </a:r>
            <a:r>
              <a:rPr lang="en-IN" sz="2000" dirty="0" err="1">
                <a:latin typeface="Times New Roman" panose="02020603050405020304" pitchFamily="18" charset="0"/>
                <a:cs typeface="Times New Roman" panose="02020603050405020304" pitchFamily="18" charset="0"/>
              </a:rPr>
              <a:t>Carati</a:t>
            </a:r>
            <a:r>
              <a:rPr lang="en-IN" sz="2000" dirty="0">
                <a:latin typeface="Times New Roman" panose="02020603050405020304" pitchFamily="18" charset="0"/>
                <a:cs typeface="Times New Roman" panose="02020603050405020304" pitchFamily="18" charset="0"/>
              </a:rPr>
              <a:t>, E.G., da Costa, J.P. and Cardoso, R., 2025. Implementation and Analysis of a Secure Communication with </a:t>
            </a:r>
            <a:r>
              <a:rPr lang="en-IN" sz="2000" dirty="0" err="1">
                <a:latin typeface="Times New Roman" panose="02020603050405020304" pitchFamily="18" charset="0"/>
                <a:cs typeface="Times New Roman" panose="02020603050405020304" pitchFamily="18" charset="0"/>
              </a:rPr>
              <a:t>SunSpec</a:t>
            </a:r>
            <a:r>
              <a:rPr lang="en-IN" sz="2000" dirty="0">
                <a:latin typeface="Times New Roman" panose="02020603050405020304" pitchFamily="18" charset="0"/>
                <a:cs typeface="Times New Roman" panose="02020603050405020304" pitchFamily="18" charset="0"/>
              </a:rPr>
              <a:t> Modbus and Transport Layer Security Protocols for Short-term Energy Management Systems. </a:t>
            </a:r>
            <a:r>
              <a:rPr lang="en-IN" sz="2000" i="1" dirty="0">
                <a:latin typeface="Times New Roman" panose="02020603050405020304" pitchFamily="18" charset="0"/>
                <a:cs typeface="Times New Roman" panose="02020603050405020304" pitchFamily="18" charset="0"/>
              </a:rPr>
              <a:t>IEEE Access</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Qiao, Z., Wang, Z., Zhou, Y., Yu, Y. and Zheng, D., 2025. MRDT: An Enhanced Multi-Receiver Secure Data Transmission Protocol for WBANs. </a:t>
            </a:r>
            <a:r>
              <a:rPr lang="en-IN" sz="2000" i="1" dirty="0">
                <a:latin typeface="Times New Roman" panose="02020603050405020304" pitchFamily="18" charset="0"/>
                <a:cs typeface="Times New Roman" panose="02020603050405020304" pitchFamily="18" charset="0"/>
              </a:rPr>
              <a:t>IEEE Internet of Things Journal</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Li, Y., Khan, F., Ahmed, M., Soofi, A.A., Khan, W.U., </a:t>
            </a:r>
            <a:r>
              <a:rPr lang="en-IN" sz="2000" dirty="0" err="1">
                <a:latin typeface="Times New Roman" panose="02020603050405020304" pitchFamily="18" charset="0"/>
                <a:cs typeface="Times New Roman" panose="02020603050405020304" pitchFamily="18" charset="0"/>
              </a:rPr>
              <a:t>Sheemar</a:t>
            </a:r>
            <a:r>
              <a:rPr lang="en-IN" sz="2000" dirty="0">
                <a:latin typeface="Times New Roman" panose="02020603050405020304" pitchFamily="18" charset="0"/>
                <a:cs typeface="Times New Roman" panose="02020603050405020304" pitchFamily="18" charset="0"/>
              </a:rPr>
              <a:t>, C.K., Asif, M. and Han, Z., 2025. RIS-based Physical Layer Security for Integrated Sensing and Communication: A Comprehensive Survey. </a:t>
            </a:r>
            <a:r>
              <a:rPr lang="en-IN" sz="2000" i="1" dirty="0">
                <a:latin typeface="Times New Roman" panose="02020603050405020304" pitchFamily="18" charset="0"/>
                <a:cs typeface="Times New Roman" panose="02020603050405020304" pitchFamily="18" charset="0"/>
              </a:rPr>
              <a:t>IEEE Internet of Things Journal</a:t>
            </a:r>
            <a:r>
              <a:rPr lang="en-IN" sz="2000" dirty="0">
                <a:latin typeface="Times New Roman" panose="02020603050405020304" pitchFamily="18" charset="0"/>
                <a:cs typeface="Times New Roman" panose="02020603050405020304" pitchFamily="18" charset="0"/>
              </a:rPr>
              <a:t>.</a:t>
            </a:r>
            <a:endParaRPr lang="en-IN" sz="700" dirty="0">
              <a:latin typeface="Times New Roman" panose="02020603050405020304" pitchFamily="18" charset="0"/>
              <a:cs typeface="Times New Roman" panose="02020603050405020304" pitchFamily="18" charset="0"/>
            </a:endParaRPr>
          </a:p>
        </p:txBody>
      </p:sp>
      <p:pic>
        <p:nvPicPr>
          <p:cNvPr id="7" name="Google Shape;84;p1" descr="SSE-Computer Science and Engineering">
            <a:extLst>
              <a:ext uri="{FF2B5EF4-FFF2-40B4-BE49-F238E27FC236}">
                <a16:creationId xmlns:a16="http://schemas.microsoft.com/office/drawing/2014/main" id="{5454BC47-5D4A-2D85-DD2D-4B4590DCBBE0}"/>
              </a:ext>
            </a:extLst>
          </p:cNvPr>
          <p:cNvPicPr preferRelativeResize="0"/>
          <p:nvPr/>
        </p:nvPicPr>
        <p:blipFill rotWithShape="1">
          <a:blip r:embed="rId2">
            <a:alphaModFix/>
          </a:blip>
          <a:srcRect/>
          <a:stretch/>
        </p:blipFill>
        <p:spPr>
          <a:xfrm>
            <a:off x="1524000" y="255271"/>
            <a:ext cx="9144000" cy="905870"/>
          </a:xfrm>
          <a:prstGeom prst="rect">
            <a:avLst/>
          </a:prstGeom>
          <a:noFill/>
          <a:ln>
            <a:noFill/>
          </a:ln>
        </p:spPr>
      </p:pic>
    </p:spTree>
    <p:extLst>
      <p:ext uri="{BB962C8B-B14F-4D97-AF65-F5344CB8AC3E}">
        <p14:creationId xmlns:p14="http://schemas.microsoft.com/office/powerpoint/2010/main" val="2301029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F78DA5-E531-99AC-0A05-CAB11DB82B95}"/>
              </a:ext>
            </a:extLst>
          </p:cNvPr>
          <p:cNvSpPr txBox="1"/>
          <p:nvPr/>
        </p:nvSpPr>
        <p:spPr>
          <a:xfrm>
            <a:off x="2224585" y="2473654"/>
            <a:ext cx="7471917" cy="1569660"/>
          </a:xfrm>
          <a:prstGeom prst="rect">
            <a:avLst/>
          </a:prstGeom>
          <a:noFill/>
        </p:spPr>
        <p:txBody>
          <a:bodyPr wrap="none" rtlCol="0">
            <a:spAutoFit/>
          </a:bodyPr>
          <a:lstStyle/>
          <a:p>
            <a:r>
              <a:rPr lang="en-US" sz="9600" dirty="0">
                <a:latin typeface="Times New Roman" panose="02020603050405020304" pitchFamily="18" charset="0"/>
                <a:cs typeface="Times New Roman" panose="02020603050405020304" pitchFamily="18" charset="0"/>
              </a:rPr>
              <a:t>THANK YOU</a:t>
            </a:r>
            <a:endParaRPr lang="en-IN" sz="9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16132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1635</TotalTime>
  <Words>1105</Words>
  <Application>Microsoft Office PowerPoint</Application>
  <PresentationFormat>Widescreen</PresentationFormat>
  <Paragraphs>135</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 OBJECTIVES   </vt:lpstr>
      <vt:lpstr>PowerPoint Presentation</vt:lpstr>
      <vt:lpstr>PowerPoint Presentation</vt:lpstr>
      <vt:lpstr>PowerPoint Presentation</vt:lpstr>
      <vt:lpstr>System Architecture   </vt:lpstr>
      <vt:lpstr>Implementation</vt:lpstr>
      <vt:lpstr>Module 2:Secure Transmission Techniques Using TLS</vt:lpstr>
      <vt:lpstr>  </vt:lpstr>
      <vt:lpstr>PowerPoint Presentation</vt:lpstr>
      <vt:lpstr>  </vt:lpstr>
      <vt:lpstr>                               Future scope</vt:lpstr>
      <vt:lpstr>Challenges &amp; Limitations</vt:lpstr>
      <vt:lpstr>                        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gops0616@outlook.com</dc:creator>
  <cp:lastModifiedBy>Sanjana G</cp:lastModifiedBy>
  <cp:revision>13</cp:revision>
  <dcterms:created xsi:type="dcterms:W3CDTF">2025-12-05T08:12:54Z</dcterms:created>
  <dcterms:modified xsi:type="dcterms:W3CDTF">2025-12-23T18:53:10Z</dcterms:modified>
</cp:coreProperties>
</file>